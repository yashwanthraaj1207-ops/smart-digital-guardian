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Anton"/>
      <p:regular r:id="rId15"/>
    </p:embeddedFont>
    <p:embeddedFont>
      <p:font typeface="Noto Serif Ethiopic"/>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nton-regular.fntdata"/><Relationship Id="rId14" Type="http://schemas.openxmlformats.org/officeDocument/2006/relationships/slide" Target="slides/slide9.xml"/><Relationship Id="rId17" Type="http://schemas.openxmlformats.org/officeDocument/2006/relationships/font" Target="fonts/NotoSerifEthiopic-bold.fntdata"/><Relationship Id="rId16" Type="http://schemas.openxmlformats.org/officeDocument/2006/relationships/font" Target="fonts/NotoSerifEthiopic-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0.png"/><Relationship Id="rId11" Type="http://schemas.openxmlformats.org/officeDocument/2006/relationships/image" Target="../media/image7.png"/><Relationship Id="rId10" Type="http://schemas.openxmlformats.org/officeDocument/2006/relationships/image" Target="../media/image6.png"/><Relationship Id="rId12" Type="http://schemas.openxmlformats.org/officeDocument/2006/relationships/image" Target="../media/image19.pn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3.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9.png"/><Relationship Id="rId7" Type="http://schemas.openxmlformats.org/officeDocument/2006/relationships/image" Target="../media/image16.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522" r="-521" t="0"/>
            </a:stretch>
          </a:blipFill>
          <a:ln>
            <a:noFill/>
          </a:ln>
        </p:spPr>
      </p:sp>
      <p:sp>
        <p:nvSpPr>
          <p:cNvPr id="85" name="Google Shape;85;p13"/>
          <p:cNvSpPr/>
          <p:nvPr/>
        </p:nvSpPr>
        <p:spPr>
          <a:xfrm>
            <a:off x="16002976" y="401183"/>
            <a:ext cx="1858143" cy="1839187"/>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4">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262835" y="9240797"/>
            <a:ext cx="2830590" cy="755125"/>
          </a:xfrm>
          <a:custGeom>
            <a:rect b="b" l="l" r="r" t="t"/>
            <a:pathLst>
              <a:path extrusionOk="0" h="755125" w="2830590">
                <a:moveTo>
                  <a:pt x="0" y="0"/>
                </a:moveTo>
                <a:lnTo>
                  <a:pt x="2830590" y="0"/>
                </a:lnTo>
                <a:lnTo>
                  <a:pt x="2830590" y="755125"/>
                </a:lnTo>
                <a:lnTo>
                  <a:pt x="0" y="755125"/>
                </a:lnTo>
                <a:lnTo>
                  <a:pt x="0" y="0"/>
                </a:lnTo>
                <a:close/>
              </a:path>
            </a:pathLst>
          </a:custGeom>
          <a:blipFill rotWithShape="1">
            <a:blip r:embed="rId5">
              <a:alphaModFix/>
            </a:blip>
            <a:stretch>
              <a:fillRect b="0" l="0" r="0" t="0"/>
            </a:stretch>
          </a:blipFill>
          <a:ln>
            <a:noFill/>
          </a:ln>
        </p:spPr>
      </p:sp>
      <p:sp>
        <p:nvSpPr>
          <p:cNvPr id="87" name="Google Shape;87;p13"/>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6">
              <a:alphaModFix/>
            </a:blip>
            <a:stretch>
              <a:fillRect b="0" l="0" r="0" t="0"/>
            </a:stretch>
          </a:blipFill>
          <a:ln>
            <a:noFill/>
          </a:ln>
        </p:spPr>
      </p:sp>
      <p:pic>
        <p:nvPicPr>
          <p:cNvPr id="88" name="Google Shape;88;p13"/>
          <p:cNvPicPr preferRelativeResize="0"/>
          <p:nvPr/>
        </p:nvPicPr>
        <p:blipFill rotWithShape="1">
          <a:blip r:embed="rId7">
            <a:alphaModFix/>
          </a:blip>
          <a:srcRect b="0" l="0" r="0" t="0"/>
          <a:stretch/>
        </p:blipFill>
        <p:spPr>
          <a:xfrm rot="-2287209">
            <a:off x="1206880" y="1204083"/>
            <a:ext cx="1246080" cy="1141160"/>
          </a:xfrm>
          <a:prstGeom prst="rect">
            <a:avLst/>
          </a:prstGeom>
          <a:noFill/>
          <a:ln>
            <a:noFill/>
          </a:ln>
        </p:spPr>
      </p:pic>
      <p:pic>
        <p:nvPicPr>
          <p:cNvPr id="89" name="Google Shape;89;p13"/>
          <p:cNvPicPr preferRelativeResize="0"/>
          <p:nvPr/>
        </p:nvPicPr>
        <p:blipFill rotWithShape="1">
          <a:blip r:embed="rId8">
            <a:alphaModFix/>
          </a:blip>
          <a:srcRect b="0" l="0" r="0" t="0"/>
          <a:stretch/>
        </p:blipFill>
        <p:spPr>
          <a:xfrm>
            <a:off x="16372081" y="6251451"/>
            <a:ext cx="1119932" cy="1081672"/>
          </a:xfrm>
          <a:prstGeom prst="rect">
            <a:avLst/>
          </a:prstGeom>
          <a:noFill/>
          <a:ln>
            <a:noFill/>
          </a:ln>
        </p:spPr>
      </p:pic>
      <p:pic>
        <p:nvPicPr>
          <p:cNvPr id="90" name="Google Shape;90;p13"/>
          <p:cNvPicPr preferRelativeResize="0"/>
          <p:nvPr/>
        </p:nvPicPr>
        <p:blipFill rotWithShape="1">
          <a:blip r:embed="rId9">
            <a:alphaModFix/>
          </a:blip>
          <a:srcRect b="0" l="0" r="0" t="0"/>
          <a:stretch/>
        </p:blipFill>
        <p:spPr>
          <a:xfrm rot="1714553">
            <a:off x="1240859" y="6680826"/>
            <a:ext cx="1178122" cy="657147"/>
          </a:xfrm>
          <a:prstGeom prst="rect">
            <a:avLst/>
          </a:prstGeom>
          <a:noFill/>
          <a:ln>
            <a:noFill/>
          </a:ln>
        </p:spPr>
      </p:pic>
      <p:sp>
        <p:nvSpPr>
          <p:cNvPr id="91" name="Google Shape;91;p13"/>
          <p:cNvSpPr txBox="1"/>
          <p:nvPr/>
        </p:nvSpPr>
        <p:spPr>
          <a:xfrm>
            <a:off x="2080157" y="7579696"/>
            <a:ext cx="14569800" cy="112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7300">
                <a:solidFill>
                  <a:srgbClr val="93B1A6"/>
                </a:solidFill>
                <a:latin typeface="Noto Serif Ethiopic"/>
                <a:ea typeface="Noto Serif Ethiopic"/>
                <a:cs typeface="Noto Serif Ethiopic"/>
                <a:sym typeface="Noto Serif Ethiopic"/>
              </a:rPr>
              <a:t>Budding_Coders</a:t>
            </a:r>
            <a:endParaRPr b="1">
              <a:latin typeface="Noto Serif Ethiopic"/>
              <a:ea typeface="Noto Serif Ethiopic"/>
              <a:cs typeface="Noto Serif Ethiopic"/>
              <a:sym typeface="Noto Serif Ethiopic"/>
            </a:endParaRPr>
          </a:p>
        </p:txBody>
      </p:sp>
      <p:grpSp>
        <p:nvGrpSpPr>
          <p:cNvPr id="92" name="Google Shape;92;p13"/>
          <p:cNvGrpSpPr/>
          <p:nvPr/>
        </p:nvGrpSpPr>
        <p:grpSpPr>
          <a:xfrm>
            <a:off x="-2746322" y="595430"/>
            <a:ext cx="23538810" cy="6948110"/>
            <a:chOff x="0" y="1"/>
            <a:chExt cx="31385080" cy="9264148"/>
          </a:xfrm>
        </p:grpSpPr>
        <p:sp>
          <p:nvSpPr>
            <p:cNvPr id="93" name="Google Shape;93;p13"/>
            <p:cNvSpPr/>
            <p:nvPr/>
          </p:nvSpPr>
          <p:spPr>
            <a:xfrm rot="-657164">
              <a:off x="15388265" y="3453101"/>
              <a:ext cx="6767344" cy="3195488"/>
            </a:xfrm>
            <a:custGeom>
              <a:rect b="b" l="l" r="r" t="t"/>
              <a:pathLst>
                <a:path extrusionOk="0" h="3195488" w="6767344">
                  <a:moveTo>
                    <a:pt x="0" y="0"/>
                  </a:moveTo>
                  <a:lnTo>
                    <a:pt x="6767344" y="0"/>
                  </a:lnTo>
                  <a:lnTo>
                    <a:pt x="6767344" y="3195488"/>
                  </a:lnTo>
                  <a:lnTo>
                    <a:pt x="0" y="3195488"/>
                  </a:lnTo>
                  <a:lnTo>
                    <a:pt x="0" y="0"/>
                  </a:lnTo>
                  <a:close/>
                </a:path>
              </a:pathLst>
            </a:custGeom>
            <a:blipFill rotWithShape="1">
              <a:blip r:embed="rId10">
                <a:alphaModFix/>
              </a:blip>
              <a:stretch>
                <a:fillRect b="-20962" l="0" r="0" t="-20216"/>
              </a:stretch>
            </a:blipFill>
            <a:ln>
              <a:noFill/>
            </a:ln>
          </p:spPr>
        </p:sp>
        <p:sp>
          <p:nvSpPr>
            <p:cNvPr id="94" name="Google Shape;94;p13"/>
            <p:cNvSpPr/>
            <p:nvPr/>
          </p:nvSpPr>
          <p:spPr>
            <a:xfrm rot="-657164">
              <a:off x="7953674" y="3061803"/>
              <a:ext cx="7410080" cy="3498983"/>
            </a:xfrm>
            <a:custGeom>
              <a:rect b="b" l="l" r="r" t="t"/>
              <a:pathLst>
                <a:path extrusionOk="0" h="3498983" w="7410080">
                  <a:moveTo>
                    <a:pt x="0" y="0"/>
                  </a:moveTo>
                  <a:lnTo>
                    <a:pt x="7410080" y="0"/>
                  </a:lnTo>
                  <a:lnTo>
                    <a:pt x="7410080" y="3498983"/>
                  </a:lnTo>
                  <a:lnTo>
                    <a:pt x="0" y="3498983"/>
                  </a:lnTo>
                  <a:lnTo>
                    <a:pt x="0" y="0"/>
                  </a:lnTo>
                  <a:close/>
                </a:path>
              </a:pathLst>
            </a:custGeom>
            <a:blipFill rotWithShape="1">
              <a:blip r:embed="rId10">
                <a:alphaModFix/>
              </a:blip>
              <a:stretch>
                <a:fillRect b="-20962" l="0" r="0" t="-20216"/>
              </a:stretch>
            </a:blipFill>
            <a:ln>
              <a:noFill/>
            </a:ln>
          </p:spPr>
        </p:sp>
        <p:sp>
          <p:nvSpPr>
            <p:cNvPr id="95" name="Google Shape;95;p13"/>
            <p:cNvSpPr/>
            <p:nvPr/>
          </p:nvSpPr>
          <p:spPr>
            <a:xfrm rot="-657164">
              <a:off x="297846" y="2629052"/>
              <a:ext cx="8331298" cy="3933975"/>
            </a:xfrm>
            <a:custGeom>
              <a:rect b="b" l="l" r="r" t="t"/>
              <a:pathLst>
                <a:path extrusionOk="0" h="3933975" w="8331298">
                  <a:moveTo>
                    <a:pt x="0" y="0"/>
                  </a:moveTo>
                  <a:lnTo>
                    <a:pt x="8331297" y="0"/>
                  </a:lnTo>
                  <a:lnTo>
                    <a:pt x="8331297" y="3933975"/>
                  </a:lnTo>
                  <a:lnTo>
                    <a:pt x="0" y="3933975"/>
                  </a:lnTo>
                  <a:lnTo>
                    <a:pt x="0" y="0"/>
                  </a:lnTo>
                  <a:close/>
                </a:path>
              </a:pathLst>
            </a:custGeom>
            <a:blipFill rotWithShape="1">
              <a:blip r:embed="rId10">
                <a:alphaModFix/>
              </a:blip>
              <a:stretch>
                <a:fillRect b="-20962" l="0" r="0" t="-20216"/>
              </a:stretch>
            </a:blipFill>
            <a:ln>
              <a:noFill/>
            </a:ln>
          </p:spPr>
        </p:sp>
        <p:sp>
          <p:nvSpPr>
            <p:cNvPr id="96" name="Google Shape;96;p13"/>
            <p:cNvSpPr/>
            <p:nvPr/>
          </p:nvSpPr>
          <p:spPr>
            <a:xfrm rot="-657164">
              <a:off x="21812005" y="3712048"/>
              <a:ext cx="6604919" cy="3118792"/>
            </a:xfrm>
            <a:custGeom>
              <a:rect b="b" l="l" r="r" t="t"/>
              <a:pathLst>
                <a:path extrusionOk="0" h="3118792" w="6604919">
                  <a:moveTo>
                    <a:pt x="0" y="0"/>
                  </a:moveTo>
                  <a:lnTo>
                    <a:pt x="6604919" y="0"/>
                  </a:lnTo>
                  <a:lnTo>
                    <a:pt x="6604919" y="3118792"/>
                  </a:lnTo>
                  <a:lnTo>
                    <a:pt x="0" y="3118792"/>
                  </a:lnTo>
                  <a:lnTo>
                    <a:pt x="0" y="0"/>
                  </a:lnTo>
                  <a:close/>
                </a:path>
              </a:pathLst>
            </a:custGeom>
            <a:blipFill rotWithShape="1">
              <a:blip r:embed="rId10">
                <a:alphaModFix/>
              </a:blip>
              <a:stretch>
                <a:fillRect b="-20962" l="0" r="0" t="-20216"/>
              </a:stretch>
            </a:blipFill>
            <a:ln>
              <a:noFill/>
            </a:ln>
          </p:spPr>
        </p:sp>
        <p:sp>
          <p:nvSpPr>
            <p:cNvPr id="97" name="Google Shape;97;p13"/>
            <p:cNvSpPr/>
            <p:nvPr/>
          </p:nvSpPr>
          <p:spPr>
            <a:xfrm rot="-1277488">
              <a:off x="18189720" y="2080498"/>
              <a:ext cx="6676104" cy="3082765"/>
            </a:xfrm>
            <a:custGeom>
              <a:rect b="b" l="l" r="r" t="t"/>
              <a:pathLst>
                <a:path extrusionOk="0" h="3082765" w="6676104">
                  <a:moveTo>
                    <a:pt x="0" y="0"/>
                  </a:moveTo>
                  <a:lnTo>
                    <a:pt x="6676104" y="0"/>
                  </a:lnTo>
                  <a:lnTo>
                    <a:pt x="6676104" y="3082765"/>
                  </a:lnTo>
                  <a:lnTo>
                    <a:pt x="0" y="3082765"/>
                  </a:lnTo>
                  <a:lnTo>
                    <a:pt x="0" y="0"/>
                  </a:lnTo>
                  <a:close/>
                </a:path>
              </a:pathLst>
            </a:custGeom>
            <a:blipFill rotWithShape="1">
              <a:blip r:embed="rId10">
                <a:alphaModFix/>
              </a:blip>
              <a:stretch>
                <a:fillRect b="-22565" l="0" r="0" t="-21805"/>
              </a:stretch>
            </a:blipFill>
            <a:ln>
              <a:noFill/>
            </a:ln>
          </p:spPr>
        </p:sp>
        <p:sp>
          <p:nvSpPr>
            <p:cNvPr id="98" name="Google Shape;98;p13"/>
            <p:cNvSpPr/>
            <p:nvPr/>
          </p:nvSpPr>
          <p:spPr>
            <a:xfrm rot="-1277488">
              <a:off x="10835934" y="3105037"/>
              <a:ext cx="7310175" cy="3375554"/>
            </a:xfrm>
            <a:custGeom>
              <a:rect b="b" l="l" r="r" t="t"/>
              <a:pathLst>
                <a:path extrusionOk="0" h="3375554" w="7310175">
                  <a:moveTo>
                    <a:pt x="0" y="0"/>
                  </a:moveTo>
                  <a:lnTo>
                    <a:pt x="7310175" y="0"/>
                  </a:lnTo>
                  <a:lnTo>
                    <a:pt x="7310175" y="3375554"/>
                  </a:lnTo>
                  <a:lnTo>
                    <a:pt x="0" y="3375554"/>
                  </a:lnTo>
                  <a:lnTo>
                    <a:pt x="0" y="0"/>
                  </a:lnTo>
                  <a:close/>
                </a:path>
              </a:pathLst>
            </a:custGeom>
            <a:blipFill rotWithShape="1">
              <a:blip r:embed="rId10">
                <a:alphaModFix/>
              </a:blip>
              <a:stretch>
                <a:fillRect b="-22565" l="0" r="0" t="-21805"/>
              </a:stretch>
            </a:blipFill>
            <a:ln>
              <a:noFill/>
            </a:ln>
          </p:spPr>
        </p:sp>
        <p:sp>
          <p:nvSpPr>
            <p:cNvPr id="99" name="Google Shape;99;p13"/>
            <p:cNvSpPr/>
            <p:nvPr/>
          </p:nvSpPr>
          <p:spPr>
            <a:xfrm rot="-1277488">
              <a:off x="3268077" y="4106262"/>
              <a:ext cx="8218973" cy="3795201"/>
            </a:xfrm>
            <a:custGeom>
              <a:rect b="b" l="l" r="r" t="t"/>
              <a:pathLst>
                <a:path extrusionOk="0" h="3795201" w="8218973">
                  <a:moveTo>
                    <a:pt x="0" y="0"/>
                  </a:moveTo>
                  <a:lnTo>
                    <a:pt x="8218973" y="0"/>
                  </a:lnTo>
                  <a:lnTo>
                    <a:pt x="8218973" y="3795202"/>
                  </a:lnTo>
                  <a:lnTo>
                    <a:pt x="0" y="3795202"/>
                  </a:lnTo>
                  <a:lnTo>
                    <a:pt x="0" y="0"/>
                  </a:lnTo>
                  <a:close/>
                </a:path>
              </a:pathLst>
            </a:custGeom>
            <a:blipFill rotWithShape="1">
              <a:blip r:embed="rId10">
                <a:alphaModFix/>
              </a:blip>
              <a:stretch>
                <a:fillRect b="-22565" l="0" r="0" t="-21805"/>
              </a:stretch>
            </a:blipFill>
            <a:ln>
              <a:noFill/>
            </a:ln>
          </p:spPr>
        </p:sp>
        <p:sp>
          <p:nvSpPr>
            <p:cNvPr id="100" name="Google Shape;100;p13"/>
            <p:cNvSpPr/>
            <p:nvPr/>
          </p:nvSpPr>
          <p:spPr>
            <a:xfrm rot="-1277488">
              <a:off x="24545318" y="1080316"/>
              <a:ext cx="6515870" cy="3008775"/>
            </a:xfrm>
            <a:custGeom>
              <a:rect b="b" l="l" r="r" t="t"/>
              <a:pathLst>
                <a:path extrusionOk="0" h="3008775" w="6515870">
                  <a:moveTo>
                    <a:pt x="0" y="0"/>
                  </a:moveTo>
                  <a:lnTo>
                    <a:pt x="6515869" y="0"/>
                  </a:lnTo>
                  <a:lnTo>
                    <a:pt x="6515869" y="3008775"/>
                  </a:lnTo>
                  <a:lnTo>
                    <a:pt x="0" y="3008775"/>
                  </a:lnTo>
                  <a:lnTo>
                    <a:pt x="0" y="0"/>
                  </a:lnTo>
                  <a:close/>
                </a:path>
              </a:pathLst>
            </a:custGeom>
            <a:blipFill rotWithShape="1">
              <a:blip r:embed="rId10">
                <a:alphaModFix/>
              </a:blip>
              <a:stretch>
                <a:fillRect b="-22565" l="0" r="0" t="-21805"/>
              </a:stretch>
            </a:blipFill>
            <a:ln>
              <a:noFill/>
            </a:ln>
          </p:spPr>
        </p:sp>
      </p:grpSp>
      <p:grpSp>
        <p:nvGrpSpPr>
          <p:cNvPr id="101" name="Google Shape;101;p13"/>
          <p:cNvGrpSpPr/>
          <p:nvPr/>
        </p:nvGrpSpPr>
        <p:grpSpPr>
          <a:xfrm>
            <a:off x="1829920" y="1774663"/>
            <a:ext cx="14143015" cy="4799452"/>
            <a:chOff x="0" y="0"/>
            <a:chExt cx="18857354" cy="6399270"/>
          </a:xfrm>
        </p:grpSpPr>
        <p:sp>
          <p:nvSpPr>
            <p:cNvPr id="102" name="Google Shape;102;p13"/>
            <p:cNvSpPr/>
            <p:nvPr/>
          </p:nvSpPr>
          <p:spPr>
            <a:xfrm>
              <a:off x="0" y="0"/>
              <a:ext cx="18123279" cy="6399270"/>
            </a:xfrm>
            <a:custGeom>
              <a:rect b="b" l="l" r="r" t="t"/>
              <a:pathLst>
                <a:path extrusionOk="0" h="6399270" w="18123279">
                  <a:moveTo>
                    <a:pt x="0" y="0"/>
                  </a:moveTo>
                  <a:lnTo>
                    <a:pt x="18123279" y="0"/>
                  </a:lnTo>
                  <a:lnTo>
                    <a:pt x="18123279" y="6399270"/>
                  </a:lnTo>
                  <a:lnTo>
                    <a:pt x="0" y="6399270"/>
                  </a:lnTo>
                  <a:lnTo>
                    <a:pt x="0" y="0"/>
                  </a:lnTo>
                  <a:close/>
                </a:path>
              </a:pathLst>
            </a:custGeom>
            <a:blipFill rotWithShape="1">
              <a:blip r:embed="rId11">
                <a:alphaModFix/>
              </a:blip>
              <a:stretch>
                <a:fillRect b="-53719" l="0" r="0" t="-35080"/>
              </a:stretch>
            </a:blipFill>
            <a:ln>
              <a:noFill/>
            </a:ln>
          </p:spPr>
        </p:sp>
        <p:sp>
          <p:nvSpPr>
            <p:cNvPr id="103" name="Google Shape;103;p13"/>
            <p:cNvSpPr/>
            <p:nvPr/>
          </p:nvSpPr>
          <p:spPr>
            <a:xfrm>
              <a:off x="15143711" y="2978859"/>
              <a:ext cx="3713643" cy="2858709"/>
            </a:xfrm>
            <a:custGeom>
              <a:rect b="b" l="l" r="r" t="t"/>
              <a:pathLst>
                <a:path extrusionOk="0" h="2858709" w="3713643">
                  <a:moveTo>
                    <a:pt x="0" y="0"/>
                  </a:moveTo>
                  <a:lnTo>
                    <a:pt x="3713643" y="0"/>
                  </a:lnTo>
                  <a:lnTo>
                    <a:pt x="3713643" y="2858709"/>
                  </a:lnTo>
                  <a:lnTo>
                    <a:pt x="0" y="2858709"/>
                  </a:lnTo>
                  <a:lnTo>
                    <a:pt x="0" y="0"/>
                  </a:lnTo>
                  <a:close/>
                </a:path>
              </a:pathLst>
            </a:custGeom>
            <a:blipFill rotWithShape="1">
              <a:blip r:embed="rId12">
                <a:alphaModFix/>
              </a:blip>
              <a:stretch>
                <a:fillRect b="-7337" l="-366325" r="-7293" t="-122621"/>
              </a:stretch>
            </a:blipFill>
            <a:ln>
              <a:noFill/>
            </a:ln>
          </p:spPr>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09" name="Google Shape;109;p14"/>
          <p:cNvSpPr/>
          <p:nvPr/>
        </p:nvSpPr>
        <p:spPr>
          <a:xfrm>
            <a:off x="506506" y="401183"/>
            <a:ext cx="1858143" cy="1839187"/>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4">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262835" y="9240797"/>
            <a:ext cx="2830590" cy="755125"/>
          </a:xfrm>
          <a:custGeom>
            <a:rect b="b" l="l" r="r" t="t"/>
            <a:pathLst>
              <a:path extrusionOk="0" h="755125" w="2830590">
                <a:moveTo>
                  <a:pt x="0" y="0"/>
                </a:moveTo>
                <a:lnTo>
                  <a:pt x="2830590" y="0"/>
                </a:lnTo>
                <a:lnTo>
                  <a:pt x="2830590" y="755125"/>
                </a:lnTo>
                <a:lnTo>
                  <a:pt x="0" y="755125"/>
                </a:lnTo>
                <a:lnTo>
                  <a:pt x="0" y="0"/>
                </a:lnTo>
                <a:close/>
              </a:path>
            </a:pathLst>
          </a:custGeom>
          <a:blipFill rotWithShape="1">
            <a:blip r:embed="rId5">
              <a:alphaModFix/>
            </a:blip>
            <a:stretch>
              <a:fillRect b="0" l="0" r="0" t="0"/>
            </a:stretch>
          </a:blipFill>
          <a:ln>
            <a:noFill/>
          </a:ln>
        </p:spPr>
      </p:sp>
      <p:sp>
        <p:nvSpPr>
          <p:cNvPr id="111" name="Google Shape;111;p14"/>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6">
              <a:alphaModFix/>
            </a:blip>
            <a:stretch>
              <a:fillRect b="0" l="0" r="0" t="0"/>
            </a:stretch>
          </a:blipFill>
          <a:ln>
            <a:noFill/>
          </a:ln>
        </p:spPr>
      </p:sp>
      <p:sp>
        <p:nvSpPr>
          <p:cNvPr id="112" name="Google Shape;112;p14"/>
          <p:cNvSpPr/>
          <p:nvPr/>
        </p:nvSpPr>
        <p:spPr>
          <a:xfrm>
            <a:off x="3925675" y="106687"/>
            <a:ext cx="11245051" cy="9511672"/>
          </a:xfrm>
          <a:custGeom>
            <a:rect b="b" l="l" r="r" t="t"/>
            <a:pathLst>
              <a:path extrusionOk="0" h="9511672" w="11245051">
                <a:moveTo>
                  <a:pt x="0" y="0"/>
                </a:moveTo>
                <a:lnTo>
                  <a:pt x="11245051" y="0"/>
                </a:lnTo>
                <a:lnTo>
                  <a:pt x="11245051" y="9511672"/>
                </a:lnTo>
                <a:lnTo>
                  <a:pt x="0" y="9511672"/>
                </a:lnTo>
                <a:lnTo>
                  <a:pt x="0" y="0"/>
                </a:lnTo>
                <a:close/>
              </a:path>
            </a:pathLst>
          </a:custGeom>
          <a:blipFill rotWithShape="1">
            <a:blip r:embed="rId7">
              <a:alphaModFix/>
            </a:blip>
            <a:stretch>
              <a:fillRect b="-1975" l="-1266" r="-1265" t="0"/>
            </a:stretch>
          </a:blipFill>
          <a:ln>
            <a:noFill/>
          </a:ln>
        </p:spPr>
      </p:sp>
      <p:sp>
        <p:nvSpPr>
          <p:cNvPr id="113" name="Google Shape;113;p14"/>
          <p:cNvSpPr txBox="1"/>
          <p:nvPr/>
        </p:nvSpPr>
        <p:spPr>
          <a:xfrm>
            <a:off x="4749103" y="1502870"/>
            <a:ext cx="9598195" cy="2424146"/>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0" i="0" lang="en-US" sz="14184" u="none" cap="none" strike="noStrike">
                <a:solidFill>
                  <a:srgbClr val="FFFFFF"/>
                </a:solidFill>
                <a:latin typeface="Anton"/>
                <a:ea typeface="Anton"/>
                <a:cs typeface="Anton"/>
                <a:sym typeface="Anton"/>
              </a:rPr>
              <a:t>TEAM DETAILS</a:t>
            </a:r>
            <a:endParaRPr/>
          </a:p>
        </p:txBody>
      </p:sp>
      <p:sp>
        <p:nvSpPr>
          <p:cNvPr id="114" name="Google Shape;114;p14"/>
          <p:cNvSpPr txBox="1"/>
          <p:nvPr/>
        </p:nvSpPr>
        <p:spPr>
          <a:xfrm>
            <a:off x="4749094" y="4049070"/>
            <a:ext cx="10158300" cy="43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10" u="none" cap="none" strike="noStrike">
                <a:solidFill>
                  <a:srgbClr val="FFFFFF"/>
                </a:solidFill>
                <a:latin typeface="Noto Serif Ethiopic"/>
                <a:ea typeface="Noto Serif Ethiopic"/>
                <a:cs typeface="Noto Serif Ethiopic"/>
                <a:sym typeface="Noto Serif Ethiopic"/>
              </a:rPr>
              <a:t>TEAM LEAD</a:t>
            </a:r>
            <a:r>
              <a:rPr i="0" lang="en-US" sz="2810" u="none" cap="none" strike="noStrike">
                <a:solidFill>
                  <a:srgbClr val="FFFFFF"/>
                </a:solidFill>
                <a:latin typeface="Noto Serif Ethiopic"/>
                <a:ea typeface="Noto Serif Ethiopic"/>
                <a:cs typeface="Noto Serif Ethiopic"/>
                <a:sym typeface="Noto Serif Ethiopic"/>
              </a:rPr>
              <a:t>:</a:t>
            </a:r>
            <a:r>
              <a:rPr lang="en-US" sz="2810">
                <a:solidFill>
                  <a:srgbClr val="FFFFFF"/>
                </a:solidFill>
                <a:latin typeface="Noto Serif Ethiopic"/>
                <a:ea typeface="Noto Serif Ethiopic"/>
                <a:cs typeface="Noto Serif Ethiopic"/>
                <a:sym typeface="Noto Serif Ethiopic"/>
              </a:rPr>
              <a:t> S Yashwanth Raaj</a:t>
            </a:r>
            <a:endParaRPr>
              <a:latin typeface="Noto Serif Ethiopic"/>
              <a:ea typeface="Noto Serif Ethiopic"/>
              <a:cs typeface="Noto Serif Ethiopic"/>
              <a:sym typeface="Noto Serif Ethiopic"/>
            </a:endParaRPr>
          </a:p>
        </p:txBody>
      </p:sp>
      <p:sp>
        <p:nvSpPr>
          <p:cNvPr id="115" name="Google Shape;115;p14"/>
          <p:cNvSpPr txBox="1"/>
          <p:nvPr/>
        </p:nvSpPr>
        <p:spPr>
          <a:xfrm>
            <a:off x="4696461" y="5107941"/>
            <a:ext cx="9650700" cy="43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10" u="none" cap="none" strike="noStrike">
                <a:solidFill>
                  <a:srgbClr val="FFFFFF"/>
                </a:solidFill>
                <a:latin typeface="Noto Serif Ethiopic"/>
                <a:ea typeface="Noto Serif Ethiopic"/>
                <a:cs typeface="Noto Serif Ethiopic"/>
                <a:sym typeface="Noto Serif Ethiopic"/>
              </a:rPr>
              <a:t>MEMBER 1</a:t>
            </a:r>
            <a:r>
              <a:rPr i="0" lang="en-US" sz="2810" u="none" cap="none" strike="noStrike">
                <a:solidFill>
                  <a:srgbClr val="FFFFFF"/>
                </a:solidFill>
                <a:latin typeface="Noto Serif Ethiopic"/>
                <a:ea typeface="Noto Serif Ethiopic"/>
                <a:cs typeface="Noto Serif Ethiopic"/>
                <a:sym typeface="Noto Serif Ethiopic"/>
              </a:rPr>
              <a:t>: Hrithik K</a:t>
            </a:r>
            <a:endParaRPr>
              <a:latin typeface="Noto Serif Ethiopic"/>
              <a:ea typeface="Noto Serif Ethiopic"/>
              <a:cs typeface="Noto Serif Ethiopic"/>
              <a:sym typeface="Noto Serif Ethiopic"/>
            </a:endParaRPr>
          </a:p>
        </p:txBody>
      </p:sp>
      <p:sp>
        <p:nvSpPr>
          <p:cNvPr id="116" name="Google Shape;116;p14"/>
          <p:cNvSpPr txBox="1"/>
          <p:nvPr/>
        </p:nvSpPr>
        <p:spPr>
          <a:xfrm>
            <a:off x="4696461" y="5786877"/>
            <a:ext cx="9174000" cy="43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10" u="none" cap="none" strike="noStrike">
                <a:solidFill>
                  <a:srgbClr val="FFFFFF"/>
                </a:solidFill>
                <a:latin typeface="Noto Serif Ethiopic"/>
                <a:ea typeface="Noto Serif Ethiopic"/>
                <a:cs typeface="Noto Serif Ethiopic"/>
                <a:sym typeface="Noto Serif Ethiopic"/>
              </a:rPr>
              <a:t>MEMBER 2</a:t>
            </a:r>
            <a:r>
              <a:rPr i="0" lang="en-US" sz="2810" u="none" cap="none" strike="noStrike">
                <a:solidFill>
                  <a:srgbClr val="FFFFFF"/>
                </a:solidFill>
                <a:latin typeface="Noto Serif Ethiopic"/>
                <a:ea typeface="Noto Serif Ethiopic"/>
                <a:cs typeface="Noto Serif Ethiopic"/>
                <a:sym typeface="Noto Serif Ethiopic"/>
              </a:rPr>
              <a:t>: Huzaifa M</a:t>
            </a:r>
            <a:endParaRPr>
              <a:latin typeface="Noto Serif Ethiopic"/>
              <a:ea typeface="Noto Serif Ethiopic"/>
              <a:cs typeface="Noto Serif Ethiopic"/>
              <a:sym typeface="Noto Serif Ethiopic"/>
            </a:endParaRPr>
          </a:p>
        </p:txBody>
      </p:sp>
      <p:sp>
        <p:nvSpPr>
          <p:cNvPr id="117" name="Google Shape;117;p14"/>
          <p:cNvSpPr/>
          <p:nvPr/>
        </p:nvSpPr>
        <p:spPr>
          <a:xfrm>
            <a:off x="16081974" y="458333"/>
            <a:ext cx="1839187" cy="1839187"/>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8">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txBox="1"/>
          <p:nvPr/>
        </p:nvSpPr>
        <p:spPr>
          <a:xfrm>
            <a:off x="4696461" y="6465802"/>
            <a:ext cx="9174000" cy="43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10">
                <a:solidFill>
                  <a:srgbClr val="FFFFFF"/>
                </a:solidFill>
                <a:latin typeface="Noto Serif Ethiopic"/>
                <a:ea typeface="Noto Serif Ethiopic"/>
                <a:cs typeface="Noto Serif Ethiopic"/>
                <a:sym typeface="Noto Serif Ethiopic"/>
              </a:rPr>
              <a:t>DEPARTMENT</a:t>
            </a:r>
            <a:r>
              <a:rPr lang="en-US" sz="2810">
                <a:solidFill>
                  <a:srgbClr val="FFFFFF"/>
                </a:solidFill>
                <a:latin typeface="Noto Serif Ethiopic"/>
                <a:ea typeface="Noto Serif Ethiopic"/>
                <a:cs typeface="Noto Serif Ethiopic"/>
                <a:sym typeface="Noto Serif Ethiopic"/>
              </a:rPr>
              <a:t>: CSE-AIML</a:t>
            </a:r>
            <a:endParaRPr>
              <a:latin typeface="Noto Serif Ethiopic"/>
              <a:ea typeface="Noto Serif Ethiopic"/>
              <a:cs typeface="Noto Serif Ethiopic"/>
              <a:sym typeface="Noto Serif Ethiop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24" name="Google Shape;124;p15"/>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4">
              <a:alphaModFix/>
            </a:blip>
            <a:stretch>
              <a:fillRect b="0" l="0" r="0" t="0"/>
            </a:stretch>
          </a:blipFill>
          <a:ln>
            <a:noFill/>
          </a:ln>
        </p:spPr>
      </p:sp>
      <p:sp>
        <p:nvSpPr>
          <p:cNvPr id="125" name="Google Shape;125;p15"/>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5">
              <a:alphaModFix/>
            </a:blip>
            <a:stretch>
              <a:fillRect b="0" l="0" r="0" t="0"/>
            </a:stretch>
          </a:blipFill>
          <a:ln>
            <a:noFill/>
          </a:ln>
        </p:spPr>
      </p:sp>
      <p:sp>
        <p:nvSpPr>
          <p:cNvPr id="126" name="Google Shape;126;p15"/>
          <p:cNvSpPr txBox="1"/>
          <p:nvPr/>
        </p:nvSpPr>
        <p:spPr>
          <a:xfrm>
            <a:off x="972403" y="1888542"/>
            <a:ext cx="7859400" cy="8124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5278" u="none" cap="none" strike="noStrike">
                <a:solidFill>
                  <a:srgbClr val="FFFFFF"/>
                </a:solidFill>
                <a:latin typeface="Noto Serif Ethiopic"/>
                <a:ea typeface="Noto Serif Ethiopic"/>
                <a:cs typeface="Noto Serif Ethiopic"/>
                <a:sym typeface="Noto Serif Ethiopic"/>
              </a:rPr>
              <a:t>Problem Definition :</a:t>
            </a:r>
            <a:endParaRPr/>
          </a:p>
        </p:txBody>
      </p:sp>
      <p:sp>
        <p:nvSpPr>
          <p:cNvPr id="127" name="Google Shape;127;p15"/>
          <p:cNvSpPr txBox="1"/>
          <p:nvPr/>
        </p:nvSpPr>
        <p:spPr>
          <a:xfrm>
            <a:off x="5092250" y="134073"/>
            <a:ext cx="8439900" cy="12108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lang="en-US" sz="3278">
                <a:solidFill>
                  <a:srgbClr val="FFFFFF"/>
                </a:solidFill>
                <a:latin typeface="Noto Serif Ethiopic"/>
                <a:ea typeface="Noto Serif Ethiopic"/>
                <a:cs typeface="Noto Serif Ethiopic"/>
                <a:sym typeface="Noto Serif Ethiopic"/>
              </a:rPr>
              <a:t>Smart Digital Guardian</a:t>
            </a:r>
            <a:endParaRPr b="1" sz="3278">
              <a:solidFill>
                <a:srgbClr val="FFFFFF"/>
              </a:solidFill>
              <a:latin typeface="Noto Serif Ethiopic"/>
              <a:ea typeface="Noto Serif Ethiopic"/>
              <a:cs typeface="Noto Serif Ethiopic"/>
              <a:sym typeface="Noto Serif Ethiopic"/>
            </a:endParaRPr>
          </a:p>
          <a:p>
            <a:pPr indent="0" lvl="0" marL="0" marR="0" rtl="0" algn="ctr">
              <a:lnSpc>
                <a:spcPct val="139996"/>
              </a:lnSpc>
              <a:spcBef>
                <a:spcPts val="0"/>
              </a:spcBef>
              <a:spcAft>
                <a:spcPts val="0"/>
              </a:spcAft>
              <a:buNone/>
            </a:pPr>
            <a:r>
              <a:rPr b="1" lang="en-US" sz="3278">
                <a:solidFill>
                  <a:srgbClr val="FFFFFF"/>
                </a:solidFill>
                <a:latin typeface="Noto Serif Ethiopic"/>
                <a:ea typeface="Noto Serif Ethiopic"/>
                <a:cs typeface="Noto Serif Ethiopic"/>
                <a:sym typeface="Noto Serif Ethiopic"/>
              </a:rPr>
              <a:t>AI-Based Cyber Awareness for Students</a:t>
            </a:r>
            <a:endParaRPr b="1" sz="3278">
              <a:solidFill>
                <a:srgbClr val="FFFFFF"/>
              </a:solidFill>
              <a:latin typeface="Noto Serif Ethiopic"/>
              <a:ea typeface="Noto Serif Ethiopic"/>
              <a:cs typeface="Noto Serif Ethiopic"/>
              <a:sym typeface="Noto Serif Ethiopic"/>
            </a:endParaRPr>
          </a:p>
        </p:txBody>
      </p:sp>
      <p:sp>
        <p:nvSpPr>
          <p:cNvPr id="128" name="Google Shape;128;p15"/>
          <p:cNvSpPr/>
          <p:nvPr/>
        </p:nvSpPr>
        <p:spPr>
          <a:xfrm>
            <a:off x="15513531" y="108343"/>
            <a:ext cx="1270020" cy="125706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6">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16859751" y="117868"/>
            <a:ext cx="1247539" cy="124753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txBox="1"/>
          <p:nvPr/>
        </p:nvSpPr>
        <p:spPr>
          <a:xfrm>
            <a:off x="2554642" y="3244637"/>
            <a:ext cx="13941300" cy="6223200"/>
          </a:xfrm>
          <a:prstGeom prst="rect">
            <a:avLst/>
          </a:prstGeom>
          <a:noFill/>
          <a:ln>
            <a:noFill/>
          </a:ln>
        </p:spPr>
        <p:txBody>
          <a:bodyPr anchorCtr="0" anchor="t" bIns="0" lIns="0" spcFirstLastPara="1" rIns="0" wrap="square" tIns="0">
            <a:spAutoFit/>
          </a:bodyPr>
          <a:lstStyle/>
          <a:p>
            <a:pPr indent="-377825" lvl="0" marL="457200" marR="0" rtl="0" algn="l">
              <a:lnSpc>
                <a:spcPct val="140023"/>
              </a:lnSpc>
              <a:spcBef>
                <a:spcPts val="0"/>
              </a:spcBef>
              <a:spcAft>
                <a:spcPts val="0"/>
              </a:spcAft>
              <a:buClr>
                <a:srgbClr val="FFFFFF"/>
              </a:buClr>
              <a:buSzPts val="2350"/>
              <a:buFont typeface="Noto Serif Ethiopic"/>
              <a:buChar char="●"/>
            </a:pPr>
            <a:r>
              <a:rPr b="1" i="0" lang="en-US" sz="2350" u="none" cap="none" strike="noStrike">
                <a:solidFill>
                  <a:srgbClr val="FFFFFF"/>
                </a:solidFill>
                <a:latin typeface="Noto Serif Ethiopic"/>
                <a:ea typeface="Noto Serif Ethiopic"/>
                <a:cs typeface="Noto Serif Ethiopic"/>
                <a:sym typeface="Noto Serif Ethiopic"/>
              </a:rPr>
              <a:t>In today’s digital era, students heavily depend on the internet for education, communication, and daily activities. However, many students lack awareness about cyber threats such as phishing links, scam messages, and fake websites.</a:t>
            </a:r>
            <a:endParaRPr b="1" sz="2350">
              <a:solidFill>
                <a:srgbClr val="FFFFFF"/>
              </a:solidFill>
              <a:latin typeface="Noto Serif Ethiopic"/>
              <a:ea typeface="Noto Serif Ethiopic"/>
              <a:cs typeface="Noto Serif Ethiopic"/>
              <a:sym typeface="Noto Serif Ethiopic"/>
            </a:endParaRPr>
          </a:p>
          <a:p>
            <a:pPr indent="0" lvl="0" marL="457200" marR="0" rtl="0" algn="l">
              <a:lnSpc>
                <a:spcPct val="140023"/>
              </a:lnSpc>
              <a:spcBef>
                <a:spcPts val="0"/>
              </a:spcBef>
              <a:spcAft>
                <a:spcPts val="0"/>
              </a:spcAft>
              <a:buNone/>
            </a:pPr>
            <a:r>
              <a:t/>
            </a:r>
            <a:endParaRPr b="1" sz="2350">
              <a:solidFill>
                <a:srgbClr val="FFFFFF"/>
              </a:solidFill>
              <a:latin typeface="Noto Serif Ethiopic"/>
              <a:ea typeface="Noto Serif Ethiopic"/>
              <a:cs typeface="Noto Serif Ethiopic"/>
              <a:sym typeface="Noto Serif Ethiopic"/>
            </a:endParaRPr>
          </a:p>
          <a:p>
            <a:pPr indent="-377825" lvl="0" marL="457200" rtl="0" algn="l">
              <a:lnSpc>
                <a:spcPct val="115000"/>
              </a:lnSpc>
              <a:spcBef>
                <a:spcPts val="1200"/>
              </a:spcBef>
              <a:spcAft>
                <a:spcPts val="0"/>
              </a:spcAft>
              <a:buClr>
                <a:srgbClr val="FFFFFF"/>
              </a:buClr>
              <a:buSzPts val="2350"/>
              <a:buFont typeface="Noto Serif Ethiopic"/>
              <a:buChar char="●"/>
            </a:pPr>
            <a:r>
              <a:rPr b="1" i="0" lang="en-US" sz="2350" u="none" cap="none" strike="noStrike">
                <a:solidFill>
                  <a:srgbClr val="FFFFFF"/>
                </a:solidFill>
                <a:latin typeface="Noto Serif Ethiopic"/>
                <a:ea typeface="Noto Serif Ethiopic"/>
                <a:cs typeface="Noto Serif Ethiopic"/>
                <a:sym typeface="Noto Serif Ethiopic"/>
              </a:rPr>
              <a:t>Students often click unsafe links or share personal information without realizing the risk, which can lead to data theft, account hacking, or financial loss.</a:t>
            </a:r>
            <a:endParaRPr b="1" i="0" sz="2350" u="none" cap="none" strike="noStrike">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a:p>
            <a:pPr indent="-377825" lvl="0" marL="457200" rtl="0" algn="l">
              <a:lnSpc>
                <a:spcPct val="115000"/>
              </a:lnSpc>
              <a:spcBef>
                <a:spcPts val="1200"/>
              </a:spcBef>
              <a:spcAft>
                <a:spcPts val="0"/>
              </a:spcAft>
              <a:buClr>
                <a:srgbClr val="FFFFFF"/>
              </a:buClr>
              <a:buSzPts val="2350"/>
              <a:buFont typeface="Noto Serif Ethiopic"/>
              <a:buChar char="●"/>
            </a:pPr>
            <a:r>
              <a:rPr b="1" i="0" lang="en-US" sz="2350" u="none" cap="none" strike="noStrike">
                <a:solidFill>
                  <a:srgbClr val="FFFFFF"/>
                </a:solidFill>
                <a:latin typeface="Noto Serif Ethiopic"/>
                <a:ea typeface="Noto Serif Ethiopic"/>
                <a:cs typeface="Noto Serif Ethiopic"/>
                <a:sym typeface="Noto Serif Ethiopic"/>
              </a:rPr>
              <a:t>Most existing systems focus on detecting threats after damage occurs. There is a need for an intelligent system that can warn students before they fall victim to cyber attacks.</a:t>
            </a:r>
            <a:endParaRPr b="1" i="0" sz="2350" u="none" cap="none" strike="noStrike">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a:p>
            <a:pPr indent="-377825" lvl="0" marL="457200" rtl="0" algn="l">
              <a:lnSpc>
                <a:spcPct val="115000"/>
              </a:lnSpc>
              <a:spcBef>
                <a:spcPts val="1200"/>
              </a:spcBef>
              <a:spcAft>
                <a:spcPts val="0"/>
              </a:spcAft>
              <a:buClr>
                <a:srgbClr val="FFFFFF"/>
              </a:buClr>
              <a:buSzPts val="2350"/>
              <a:buFont typeface="Noto Serif Ethiopic"/>
              <a:buChar char="●"/>
            </a:pPr>
            <a:r>
              <a:rPr b="1" i="0" lang="en-US" sz="2350" u="none" cap="none" strike="noStrike">
                <a:solidFill>
                  <a:srgbClr val="FFFFFF"/>
                </a:solidFill>
                <a:latin typeface="Noto Serif Ethiopic"/>
                <a:ea typeface="Noto Serif Ethiopic"/>
                <a:cs typeface="Noto Serif Ethiopic"/>
                <a:sym typeface="Noto Serif Ethiopic"/>
              </a:rPr>
              <a:t>This creates the need for an AI-based cyber risk awareness and protection system.</a:t>
            </a:r>
            <a:endParaRPr b="1" i="0" sz="2350" u="none" cap="none" strike="noStrike">
              <a:solidFill>
                <a:srgbClr val="FFFFFF"/>
              </a:solidFill>
              <a:latin typeface="Noto Serif Ethiopic"/>
              <a:ea typeface="Noto Serif Ethiopic"/>
              <a:cs typeface="Noto Serif Ethiopic"/>
              <a:sym typeface="Noto Serif Ethiopic"/>
            </a:endParaRPr>
          </a:p>
          <a:p>
            <a:pPr indent="0" lvl="0" marL="0" marR="0" rtl="0" algn="l">
              <a:lnSpc>
                <a:spcPct val="140023"/>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p:txBody>
      </p:sp>
      <p:cxnSp>
        <p:nvCxnSpPr>
          <p:cNvPr id="131" name="Google Shape;131;p15"/>
          <p:cNvCxnSpPr/>
          <p:nvPr/>
        </p:nvCxnSpPr>
        <p:spPr>
          <a:xfrm>
            <a:off x="1629100" y="1271750"/>
            <a:ext cx="2522400" cy="2522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37" name="Google Shape;137;p16"/>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4">
              <a:alphaModFix/>
            </a:blip>
            <a:stretch>
              <a:fillRect b="0" l="0" r="0" t="0"/>
            </a:stretch>
          </a:blipFill>
          <a:ln>
            <a:noFill/>
          </a:ln>
        </p:spPr>
      </p:sp>
      <p:sp>
        <p:nvSpPr>
          <p:cNvPr id="138" name="Google Shape;138;p16"/>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5">
              <a:alphaModFix/>
            </a:blip>
            <a:stretch>
              <a:fillRect b="0" l="0" r="0" t="0"/>
            </a:stretch>
          </a:blipFill>
          <a:ln>
            <a:noFill/>
          </a:ln>
        </p:spPr>
      </p:sp>
      <p:sp>
        <p:nvSpPr>
          <p:cNvPr id="139" name="Google Shape;139;p16"/>
          <p:cNvSpPr txBox="1"/>
          <p:nvPr/>
        </p:nvSpPr>
        <p:spPr>
          <a:xfrm>
            <a:off x="1027313" y="1251820"/>
            <a:ext cx="7089300" cy="8124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5278" u="none" cap="none" strike="noStrike">
                <a:solidFill>
                  <a:srgbClr val="FFFFFF"/>
                </a:solidFill>
                <a:latin typeface="Noto Serif Ethiopic"/>
                <a:ea typeface="Noto Serif Ethiopic"/>
                <a:cs typeface="Noto Serif Ethiopic"/>
                <a:sym typeface="Noto Serif Ethiopic"/>
              </a:rPr>
              <a:t>Proposed Solution :</a:t>
            </a:r>
            <a:endParaRPr/>
          </a:p>
        </p:txBody>
      </p:sp>
      <p:sp>
        <p:nvSpPr>
          <p:cNvPr id="140" name="Google Shape;140;p16"/>
          <p:cNvSpPr/>
          <p:nvPr/>
        </p:nvSpPr>
        <p:spPr>
          <a:xfrm>
            <a:off x="15513531" y="108343"/>
            <a:ext cx="1270020" cy="125706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6">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16859751" y="117868"/>
            <a:ext cx="1247539" cy="124753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txBox="1"/>
          <p:nvPr/>
        </p:nvSpPr>
        <p:spPr>
          <a:xfrm>
            <a:off x="2736462" y="2684666"/>
            <a:ext cx="12815100" cy="6015000"/>
          </a:xfrm>
          <a:prstGeom prst="rect">
            <a:avLst/>
          </a:prstGeom>
          <a:noFill/>
          <a:ln>
            <a:noFill/>
          </a:ln>
        </p:spPr>
        <p:txBody>
          <a:bodyPr anchorCtr="0" anchor="t" bIns="0" lIns="0" spcFirstLastPara="1" rIns="0" wrap="square" tIns="0">
            <a:spAutoFit/>
          </a:bodyPr>
          <a:lstStyle/>
          <a:p>
            <a:pPr indent="-377825" lvl="0" marL="457200" rtl="0" algn="l">
              <a:lnSpc>
                <a:spcPct val="115000"/>
              </a:lnSpc>
              <a:spcBef>
                <a:spcPts val="1200"/>
              </a:spcBef>
              <a:spcAft>
                <a:spcPts val="0"/>
              </a:spcAft>
              <a:buClr>
                <a:srgbClr val="FFFFFF"/>
              </a:buClr>
              <a:buSzPts val="2350"/>
              <a:buFont typeface="Noto Serif Ethiopic"/>
              <a:buChar char="●"/>
            </a:pPr>
            <a:r>
              <a:rPr b="1" lang="en-US" sz="2350">
                <a:solidFill>
                  <a:srgbClr val="FFFFFF"/>
                </a:solidFill>
                <a:latin typeface="Noto Serif Ethiopic"/>
                <a:ea typeface="Noto Serif Ethiopic"/>
                <a:cs typeface="Noto Serif Ethiopic"/>
                <a:sym typeface="Noto Serif Ethiopic"/>
              </a:rPr>
              <a:t>Smart Digital Guardian is an AI-based system designed to protect students from cyber threats by analyzing links and messages.</a:t>
            </a:r>
            <a:endParaRPr b="1" sz="2350">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a:p>
            <a:pPr indent="-377825" lvl="0" marL="457200" rtl="0" algn="l">
              <a:lnSpc>
                <a:spcPct val="115000"/>
              </a:lnSpc>
              <a:spcBef>
                <a:spcPts val="1200"/>
              </a:spcBef>
              <a:spcAft>
                <a:spcPts val="0"/>
              </a:spcAft>
              <a:buClr>
                <a:srgbClr val="FFFFFF"/>
              </a:buClr>
              <a:buSzPts val="2350"/>
              <a:buFont typeface="Noto Serif Ethiopic"/>
              <a:buChar char="●"/>
            </a:pPr>
            <a:r>
              <a:rPr b="1" lang="en-US" sz="2350">
                <a:solidFill>
                  <a:srgbClr val="FFFFFF"/>
                </a:solidFill>
                <a:latin typeface="Noto Serif Ethiopic"/>
                <a:ea typeface="Noto Serif Ethiopic"/>
                <a:cs typeface="Noto Serif Ethiopic"/>
                <a:sym typeface="Noto Serif Ethiopic"/>
              </a:rPr>
              <a:t>The system uses Machine Learning to identify suspicious patterns and determine whether the content is safe or dangerous.</a:t>
            </a:r>
            <a:endParaRPr b="1" sz="2350">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a:p>
            <a:pPr indent="-377825" lvl="0" marL="457200" rtl="0" algn="l">
              <a:lnSpc>
                <a:spcPct val="115000"/>
              </a:lnSpc>
              <a:spcBef>
                <a:spcPts val="1200"/>
              </a:spcBef>
              <a:spcAft>
                <a:spcPts val="0"/>
              </a:spcAft>
              <a:buClr>
                <a:srgbClr val="FFFFFF"/>
              </a:buClr>
              <a:buSzPts val="2350"/>
              <a:buFont typeface="Noto Serif Ethiopic"/>
              <a:buChar char="●"/>
            </a:pPr>
            <a:r>
              <a:rPr b="1" lang="en-US" sz="2350">
                <a:solidFill>
                  <a:srgbClr val="FFFFFF"/>
                </a:solidFill>
                <a:latin typeface="Noto Serif Ethiopic"/>
                <a:ea typeface="Noto Serif Ethiopic"/>
                <a:cs typeface="Noto Serif Ethiopic"/>
                <a:sym typeface="Noto Serif Ethiopic"/>
              </a:rPr>
              <a:t>When a student enters a link or message, the system analyzes it and provides instant feedback, including warnings and safety recommendations.</a:t>
            </a:r>
            <a:endParaRPr b="1" sz="2350">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a:p>
            <a:pPr indent="-377825" lvl="0" marL="457200" rtl="0" algn="l">
              <a:lnSpc>
                <a:spcPct val="115000"/>
              </a:lnSpc>
              <a:spcBef>
                <a:spcPts val="1200"/>
              </a:spcBef>
              <a:spcAft>
                <a:spcPts val="0"/>
              </a:spcAft>
              <a:buClr>
                <a:srgbClr val="FFFFFF"/>
              </a:buClr>
              <a:buSzPts val="2350"/>
              <a:buFont typeface="Noto Serif Ethiopic"/>
              <a:buChar char="●"/>
            </a:pPr>
            <a:r>
              <a:rPr b="1" lang="en-US" sz="2350">
                <a:solidFill>
                  <a:srgbClr val="FFFFFF"/>
                </a:solidFill>
                <a:latin typeface="Noto Serif Ethiopic"/>
                <a:ea typeface="Noto Serif Ethiopic"/>
                <a:cs typeface="Noto Serif Ethiopic"/>
                <a:sym typeface="Noto Serif Ethiopic"/>
              </a:rPr>
              <a:t>This system acts as a digital guardian that helps students avoid cyber threats and improve their online safety.</a:t>
            </a:r>
            <a:endParaRPr b="1" sz="2350">
              <a:solidFill>
                <a:srgbClr val="FFFFFF"/>
              </a:solidFill>
              <a:latin typeface="Noto Serif Ethiopic"/>
              <a:ea typeface="Noto Serif Ethiopic"/>
              <a:cs typeface="Noto Serif Ethiopic"/>
              <a:sym typeface="Noto Serif Ethiopic"/>
            </a:endParaRPr>
          </a:p>
          <a:p>
            <a:pPr indent="0" lvl="0" marL="457200" marR="0" rtl="0" algn="l">
              <a:lnSpc>
                <a:spcPct val="140023"/>
              </a:lnSpc>
              <a:spcBef>
                <a:spcPts val="1200"/>
              </a:spcBef>
              <a:spcAft>
                <a:spcPts val="0"/>
              </a:spcAft>
              <a:buNone/>
            </a:pPr>
            <a:r>
              <a:t/>
            </a:r>
            <a:endParaRPr b="1" sz="2350">
              <a:solidFill>
                <a:srgbClr val="FFFFFF"/>
              </a:solidFill>
              <a:latin typeface="Noto Serif Ethiopic"/>
              <a:ea typeface="Noto Serif Ethiopic"/>
              <a:cs typeface="Noto Serif Ethiopic"/>
              <a:sym typeface="Noto Serif Ethiop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48" name="Google Shape;148;p17"/>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4">
              <a:alphaModFix/>
            </a:blip>
            <a:stretch>
              <a:fillRect b="0" l="0" r="0" t="0"/>
            </a:stretch>
          </a:blipFill>
          <a:ln>
            <a:noFill/>
          </a:ln>
        </p:spPr>
      </p:sp>
      <p:sp>
        <p:nvSpPr>
          <p:cNvPr id="149" name="Google Shape;149;p17"/>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5">
              <a:alphaModFix/>
            </a:blip>
            <a:stretch>
              <a:fillRect b="0" l="0" r="0" t="0"/>
            </a:stretch>
          </a:blipFill>
          <a:ln>
            <a:noFill/>
          </a:ln>
        </p:spPr>
      </p:sp>
      <p:sp>
        <p:nvSpPr>
          <p:cNvPr id="150" name="Google Shape;150;p17"/>
          <p:cNvSpPr txBox="1"/>
          <p:nvPr/>
        </p:nvSpPr>
        <p:spPr>
          <a:xfrm>
            <a:off x="996182" y="1182831"/>
            <a:ext cx="9859500" cy="8124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5278" u="none" cap="none" strike="noStrike">
                <a:solidFill>
                  <a:srgbClr val="FFFFFF"/>
                </a:solidFill>
                <a:latin typeface="Noto Serif Ethiopic"/>
                <a:ea typeface="Noto Serif Ethiopic"/>
                <a:cs typeface="Noto Serif Ethiopic"/>
                <a:sym typeface="Noto Serif Ethiopic"/>
              </a:rPr>
              <a:t>Feasibility And Viability :</a:t>
            </a:r>
            <a:endParaRPr/>
          </a:p>
        </p:txBody>
      </p:sp>
      <p:sp>
        <p:nvSpPr>
          <p:cNvPr id="151" name="Google Shape;151;p17"/>
          <p:cNvSpPr/>
          <p:nvPr/>
        </p:nvSpPr>
        <p:spPr>
          <a:xfrm>
            <a:off x="15513531" y="108343"/>
            <a:ext cx="1270020" cy="125706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6">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a:off x="16859751" y="117868"/>
            <a:ext cx="1247539" cy="124753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txBox="1"/>
          <p:nvPr/>
        </p:nvSpPr>
        <p:spPr>
          <a:xfrm>
            <a:off x="3010495" y="2481628"/>
            <a:ext cx="12987600" cy="6618600"/>
          </a:xfrm>
          <a:prstGeom prst="rect">
            <a:avLst/>
          </a:prstGeom>
          <a:noFill/>
          <a:ln>
            <a:noFill/>
          </a:ln>
        </p:spPr>
        <p:txBody>
          <a:bodyPr anchorCtr="0" anchor="t" bIns="0" lIns="0" spcFirstLastPara="1" rIns="0" wrap="square" tIns="0">
            <a:spAutoFit/>
          </a:bodyPr>
          <a:lstStyle/>
          <a:p>
            <a:pPr indent="-387350" lvl="0" marL="457200" rtl="0" algn="l">
              <a:lnSpc>
                <a:spcPct val="115000"/>
              </a:lnSpc>
              <a:spcBef>
                <a:spcPts val="1200"/>
              </a:spcBef>
              <a:spcAft>
                <a:spcPts val="0"/>
              </a:spcAft>
              <a:buClr>
                <a:schemeClr val="lt1"/>
              </a:buClr>
              <a:buSzPts val="2500"/>
              <a:buFont typeface="Noto Serif Ethiopic"/>
              <a:buChar char="●"/>
            </a:pPr>
            <a:r>
              <a:rPr b="1" lang="en-US" sz="2500">
                <a:solidFill>
                  <a:schemeClr val="lt1"/>
                </a:solidFill>
                <a:latin typeface="Noto Serif Ethiopic"/>
                <a:ea typeface="Noto Serif Ethiopic"/>
                <a:cs typeface="Noto Serif Ethiopic"/>
                <a:sym typeface="Noto Serif Ethiopic"/>
              </a:rPr>
              <a:t>Technical Feasibility:</a:t>
            </a:r>
            <a:br>
              <a:rPr b="1" lang="en-US" sz="2500">
                <a:solidFill>
                  <a:schemeClr val="lt1"/>
                </a:solidFill>
                <a:latin typeface="Noto Serif Ethiopic"/>
                <a:ea typeface="Noto Serif Ethiopic"/>
                <a:cs typeface="Noto Serif Ethiopic"/>
                <a:sym typeface="Noto Serif Ethiopic"/>
              </a:rPr>
            </a:br>
            <a:r>
              <a:rPr lang="en-US" sz="2500">
                <a:solidFill>
                  <a:schemeClr val="lt1"/>
                </a:solidFill>
                <a:latin typeface="Noto Serif Ethiopic"/>
                <a:ea typeface="Noto Serif Ethiopic"/>
                <a:cs typeface="Noto Serif Ethiopic"/>
                <a:sym typeface="Noto Serif Ethiopic"/>
              </a:rPr>
              <a:t>             The system can be developed using Python, Machine Learning, and Streamlit, which are widely available and reliable technologies.</a:t>
            </a:r>
            <a:endParaRPr sz="2500">
              <a:solidFill>
                <a:schemeClr val="lt1"/>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sz="2500">
              <a:solidFill>
                <a:schemeClr val="lt1"/>
              </a:solidFill>
              <a:latin typeface="Noto Serif Ethiopic"/>
              <a:ea typeface="Noto Serif Ethiopic"/>
              <a:cs typeface="Noto Serif Ethiopic"/>
              <a:sym typeface="Noto Serif Ethiopic"/>
            </a:endParaRPr>
          </a:p>
          <a:p>
            <a:pPr indent="-387350" lvl="0" marL="457200" rtl="0" algn="l">
              <a:lnSpc>
                <a:spcPct val="115000"/>
              </a:lnSpc>
              <a:spcBef>
                <a:spcPts val="1200"/>
              </a:spcBef>
              <a:spcAft>
                <a:spcPts val="0"/>
              </a:spcAft>
              <a:buClr>
                <a:schemeClr val="lt1"/>
              </a:buClr>
              <a:buSzPts val="2500"/>
              <a:buFont typeface="Noto Serif Ethiopic"/>
              <a:buChar char="●"/>
            </a:pPr>
            <a:r>
              <a:rPr b="1" lang="en-US" sz="2500">
                <a:solidFill>
                  <a:schemeClr val="lt1"/>
                </a:solidFill>
                <a:latin typeface="Noto Serif Ethiopic"/>
                <a:ea typeface="Noto Serif Ethiopic"/>
                <a:cs typeface="Noto Serif Ethiopic"/>
                <a:sym typeface="Noto Serif Ethiopic"/>
              </a:rPr>
              <a:t>Economic Feasibility:</a:t>
            </a:r>
            <a:br>
              <a:rPr b="1" lang="en-US" sz="2500">
                <a:solidFill>
                  <a:schemeClr val="lt1"/>
                </a:solidFill>
                <a:latin typeface="Noto Serif Ethiopic"/>
                <a:ea typeface="Noto Serif Ethiopic"/>
                <a:cs typeface="Noto Serif Ethiopic"/>
                <a:sym typeface="Noto Serif Ethiopic"/>
              </a:rPr>
            </a:br>
            <a:r>
              <a:rPr lang="en-US" sz="2500">
                <a:solidFill>
                  <a:schemeClr val="lt1"/>
                </a:solidFill>
                <a:latin typeface="Noto Serif Ethiopic"/>
                <a:ea typeface="Noto Serif Ethiopic"/>
                <a:cs typeface="Noto Serif Ethiopic"/>
                <a:sym typeface="Noto Serif Ethiopic"/>
              </a:rPr>
              <a:t>             The project is cost-effective because it uses open-source tools and does not require expensive hardware.</a:t>
            </a:r>
            <a:endParaRPr sz="2500">
              <a:solidFill>
                <a:schemeClr val="lt1"/>
              </a:solidFill>
              <a:latin typeface="Noto Serif Ethiopic"/>
              <a:ea typeface="Noto Serif Ethiopic"/>
              <a:cs typeface="Noto Serif Ethiopic"/>
              <a:sym typeface="Noto Serif Ethiopic"/>
            </a:endParaRPr>
          </a:p>
          <a:p>
            <a:pPr indent="0" lvl="0" marL="0" rtl="0" algn="l">
              <a:lnSpc>
                <a:spcPct val="115000"/>
              </a:lnSpc>
              <a:spcBef>
                <a:spcPts val="1200"/>
              </a:spcBef>
              <a:spcAft>
                <a:spcPts val="0"/>
              </a:spcAft>
              <a:buNone/>
            </a:pPr>
            <a:r>
              <a:t/>
            </a:r>
            <a:endParaRPr sz="2500">
              <a:solidFill>
                <a:schemeClr val="lt1"/>
              </a:solidFill>
              <a:latin typeface="Noto Serif Ethiopic"/>
              <a:ea typeface="Noto Serif Ethiopic"/>
              <a:cs typeface="Noto Serif Ethiopic"/>
              <a:sym typeface="Noto Serif Ethiopic"/>
            </a:endParaRPr>
          </a:p>
          <a:p>
            <a:pPr indent="-387350" lvl="0" marL="457200" rtl="0" algn="l">
              <a:lnSpc>
                <a:spcPct val="115000"/>
              </a:lnSpc>
              <a:spcBef>
                <a:spcPts val="1200"/>
              </a:spcBef>
              <a:spcAft>
                <a:spcPts val="0"/>
              </a:spcAft>
              <a:buClr>
                <a:schemeClr val="lt1"/>
              </a:buClr>
              <a:buSzPts val="2500"/>
              <a:buFont typeface="Noto Serif Ethiopic"/>
              <a:buChar char="●"/>
            </a:pPr>
            <a:r>
              <a:rPr b="1" lang="en-US" sz="2500">
                <a:solidFill>
                  <a:schemeClr val="lt1"/>
                </a:solidFill>
                <a:latin typeface="Noto Serif Ethiopic"/>
                <a:ea typeface="Noto Serif Ethiopic"/>
                <a:cs typeface="Noto Serif Ethiopic"/>
                <a:sym typeface="Noto Serif Ethiopic"/>
              </a:rPr>
              <a:t>Operational Feasibility:</a:t>
            </a:r>
            <a:br>
              <a:rPr b="1" lang="en-US" sz="2500">
                <a:solidFill>
                  <a:schemeClr val="lt1"/>
                </a:solidFill>
                <a:latin typeface="Noto Serif Ethiopic"/>
                <a:ea typeface="Noto Serif Ethiopic"/>
                <a:cs typeface="Noto Serif Ethiopic"/>
                <a:sym typeface="Noto Serif Ethiopic"/>
              </a:rPr>
            </a:br>
            <a:r>
              <a:rPr lang="en-US" sz="2500">
                <a:solidFill>
                  <a:schemeClr val="lt1"/>
                </a:solidFill>
                <a:latin typeface="Noto Serif Ethiopic"/>
                <a:ea typeface="Noto Serif Ethiopic"/>
                <a:cs typeface="Noto Serif Ethiopic"/>
                <a:sym typeface="Noto Serif Ethiopic"/>
              </a:rPr>
              <a:t>             The system is simple and easy to use. Students can enter links or messages and receive instant safety feedback.</a:t>
            </a:r>
            <a:endParaRPr sz="2500">
              <a:solidFill>
                <a:schemeClr val="lt1"/>
              </a:solidFill>
              <a:latin typeface="Noto Serif Ethiopic"/>
              <a:ea typeface="Noto Serif Ethiopic"/>
              <a:cs typeface="Noto Serif Ethiopic"/>
              <a:sym typeface="Noto Serif Ethiopic"/>
            </a:endParaRPr>
          </a:p>
          <a:p>
            <a:pPr indent="0" lvl="0" marL="0" rtl="0" algn="l">
              <a:lnSpc>
                <a:spcPct val="115000"/>
              </a:lnSpc>
              <a:spcBef>
                <a:spcPts val="1200"/>
              </a:spcBef>
              <a:spcAft>
                <a:spcPts val="0"/>
              </a:spcAft>
              <a:buNone/>
            </a:pPr>
            <a:r>
              <a:t/>
            </a:r>
            <a:endParaRPr sz="2500">
              <a:solidFill>
                <a:schemeClr val="lt1"/>
              </a:solidFill>
              <a:latin typeface="Noto Serif Ethiopic"/>
              <a:ea typeface="Noto Serif Ethiopic"/>
              <a:cs typeface="Noto Serif Ethiopic"/>
              <a:sym typeface="Noto Serif Ethiopic"/>
            </a:endParaRPr>
          </a:p>
          <a:p>
            <a:pPr indent="-387350" lvl="0" marL="457200" rtl="0" algn="l">
              <a:lnSpc>
                <a:spcPct val="115000"/>
              </a:lnSpc>
              <a:spcBef>
                <a:spcPts val="1200"/>
              </a:spcBef>
              <a:spcAft>
                <a:spcPts val="0"/>
              </a:spcAft>
              <a:buClr>
                <a:schemeClr val="lt1"/>
              </a:buClr>
              <a:buSzPts val="2500"/>
              <a:buFont typeface="Noto Serif Ethiopic"/>
              <a:buChar char="●"/>
            </a:pPr>
            <a:r>
              <a:rPr lang="en-US" sz="2500">
                <a:solidFill>
                  <a:schemeClr val="lt1"/>
                </a:solidFill>
                <a:latin typeface="Noto Serif Ethiopic"/>
                <a:ea typeface="Noto Serif Ethiopic"/>
                <a:cs typeface="Noto Serif Ethiopic"/>
                <a:sym typeface="Noto Serif Ethiopic"/>
              </a:rPr>
              <a:t>This makes the system practical and suitable for real-world use.</a:t>
            </a:r>
            <a:endParaRPr b="1" sz="5650">
              <a:solidFill>
                <a:schemeClr val="lt1"/>
              </a:solidFill>
              <a:latin typeface="Noto Serif Ethiopic"/>
              <a:ea typeface="Noto Serif Ethiopic"/>
              <a:cs typeface="Noto Serif Ethiopic"/>
              <a:sym typeface="Noto Serif Ethiop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59" name="Google Shape;159;p18"/>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4">
              <a:alphaModFix/>
            </a:blip>
            <a:stretch>
              <a:fillRect b="0" l="0" r="0" t="0"/>
            </a:stretch>
          </a:blipFill>
          <a:ln>
            <a:noFill/>
          </a:ln>
        </p:spPr>
      </p:sp>
      <p:sp>
        <p:nvSpPr>
          <p:cNvPr id="160" name="Google Shape;160;p18"/>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5">
              <a:alphaModFix/>
            </a:blip>
            <a:stretch>
              <a:fillRect b="0" l="0" r="0" t="0"/>
            </a:stretch>
          </a:blipFill>
          <a:ln>
            <a:noFill/>
          </a:ln>
        </p:spPr>
      </p:sp>
      <p:sp>
        <p:nvSpPr>
          <p:cNvPr id="161" name="Google Shape;161;p18"/>
          <p:cNvSpPr txBox="1"/>
          <p:nvPr/>
        </p:nvSpPr>
        <p:spPr>
          <a:xfrm>
            <a:off x="699752" y="1195245"/>
            <a:ext cx="13224900" cy="8124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5278" u="none" cap="none" strike="noStrike">
                <a:solidFill>
                  <a:srgbClr val="FFFFFF"/>
                </a:solidFill>
                <a:latin typeface="Noto Serif Ethiopic"/>
                <a:ea typeface="Noto Serif Ethiopic"/>
                <a:cs typeface="Noto Serif Ethiopic"/>
                <a:sym typeface="Noto Serif Ethiopic"/>
              </a:rPr>
              <a:t>Implementation / Architecture:</a:t>
            </a:r>
            <a:endParaRPr/>
          </a:p>
        </p:txBody>
      </p:sp>
      <p:sp>
        <p:nvSpPr>
          <p:cNvPr id="162" name="Google Shape;162;p18"/>
          <p:cNvSpPr/>
          <p:nvPr/>
        </p:nvSpPr>
        <p:spPr>
          <a:xfrm>
            <a:off x="15513531" y="108343"/>
            <a:ext cx="1270020" cy="125706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6">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8"/>
          <p:cNvSpPr/>
          <p:nvPr/>
        </p:nvSpPr>
        <p:spPr>
          <a:xfrm>
            <a:off x="16859751" y="117868"/>
            <a:ext cx="1247539" cy="124753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txBox="1"/>
          <p:nvPr/>
        </p:nvSpPr>
        <p:spPr>
          <a:xfrm>
            <a:off x="3795970" y="2481628"/>
            <a:ext cx="12169800" cy="6078600"/>
          </a:xfrm>
          <a:prstGeom prst="rect">
            <a:avLst/>
          </a:prstGeom>
          <a:noFill/>
          <a:ln>
            <a:noFill/>
          </a:ln>
        </p:spPr>
        <p:txBody>
          <a:bodyPr anchorCtr="0" anchor="t" bIns="0" lIns="0" spcFirstLastPara="1" rIns="0" wrap="square" tIns="0">
            <a:spAutoFit/>
          </a:bodyPr>
          <a:lstStyle/>
          <a:p>
            <a:pPr indent="-393700" lvl="0" marL="457200" rtl="0" algn="l">
              <a:lnSpc>
                <a:spcPct val="115000"/>
              </a:lnSpc>
              <a:spcBef>
                <a:spcPts val="1200"/>
              </a:spcBef>
              <a:spcAft>
                <a:spcPts val="0"/>
              </a:spcAft>
              <a:buClr>
                <a:schemeClr val="lt1"/>
              </a:buClr>
              <a:buSzPts val="2600"/>
              <a:buFont typeface="Noto Serif Ethiopic"/>
              <a:buChar char="●"/>
            </a:pPr>
            <a:r>
              <a:rPr b="1" lang="en-US" sz="2600">
                <a:solidFill>
                  <a:schemeClr val="lt1"/>
                </a:solidFill>
                <a:latin typeface="Noto Serif Ethiopic"/>
                <a:ea typeface="Noto Serif Ethiopic"/>
                <a:cs typeface="Noto Serif Ethiopic"/>
                <a:sym typeface="Noto Serif Ethiopic"/>
              </a:rPr>
              <a:t>System Architecture and Working:</a:t>
            </a:r>
            <a:endParaRPr b="1" sz="2600">
              <a:solidFill>
                <a:schemeClr val="lt1"/>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rPr lang="en-US" sz="2600">
                <a:solidFill>
                  <a:schemeClr val="lt1"/>
                </a:solidFill>
                <a:latin typeface="Noto Serif Ethiopic"/>
                <a:ea typeface="Noto Serif Ethiopic"/>
                <a:cs typeface="Noto Serif Ethiopic"/>
                <a:sym typeface="Noto Serif Ethiopic"/>
              </a:rPr>
              <a:t>            Step 1: User enters a link or message into the system</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Step 2: The system processes the input data</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Step 3: The AI model analyzes the content using Machine Learning</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Step 4: The system identifies whether the content is safe or risky</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Step 5: The system displays the result and warning to the user</a:t>
            </a:r>
            <a:endParaRPr sz="2600">
              <a:solidFill>
                <a:schemeClr val="lt1"/>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sz="2600">
              <a:solidFill>
                <a:schemeClr val="lt1"/>
              </a:solidFill>
              <a:latin typeface="Noto Serif Ethiopic"/>
              <a:ea typeface="Noto Serif Ethiopic"/>
              <a:cs typeface="Noto Serif Ethiopic"/>
              <a:sym typeface="Noto Serif Ethiopic"/>
            </a:endParaRPr>
          </a:p>
          <a:p>
            <a:pPr indent="-393700" lvl="0" marL="457200" rtl="0" algn="l">
              <a:lnSpc>
                <a:spcPct val="115000"/>
              </a:lnSpc>
              <a:spcBef>
                <a:spcPts val="1200"/>
              </a:spcBef>
              <a:spcAft>
                <a:spcPts val="0"/>
              </a:spcAft>
              <a:buClr>
                <a:schemeClr val="lt1"/>
              </a:buClr>
              <a:buSzPts val="2600"/>
              <a:buFont typeface="Noto Serif Ethiopic"/>
              <a:buChar char="●"/>
            </a:pPr>
            <a:r>
              <a:rPr b="1" lang="en-US" sz="2600">
                <a:solidFill>
                  <a:schemeClr val="lt1"/>
                </a:solidFill>
                <a:latin typeface="Noto Serif Ethiopic"/>
                <a:ea typeface="Noto Serif Ethiopic"/>
                <a:cs typeface="Noto Serif Ethiopic"/>
                <a:sym typeface="Noto Serif Ethiopic"/>
              </a:rPr>
              <a:t>Technologies Used:</a:t>
            </a:r>
            <a:endParaRPr b="1" sz="2600">
              <a:solidFill>
                <a:schemeClr val="lt1"/>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1200"/>
              </a:spcAft>
              <a:buNone/>
            </a:pPr>
            <a:r>
              <a:rPr lang="en-US" sz="2600">
                <a:solidFill>
                  <a:schemeClr val="lt1"/>
                </a:solidFill>
                <a:latin typeface="Noto Serif Ethiopic"/>
                <a:ea typeface="Noto Serif Ethiopic"/>
                <a:cs typeface="Noto Serif Ethiopic"/>
                <a:sym typeface="Noto Serif Ethiopic"/>
              </a:rPr>
              <a:t>           • Python</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 Machine Learning (Scikit-learn)</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 Streamlit (User Interface)</a:t>
            </a:r>
            <a:br>
              <a:rPr lang="en-US" sz="2600">
                <a:solidFill>
                  <a:schemeClr val="lt1"/>
                </a:solidFill>
                <a:latin typeface="Noto Serif Ethiopic"/>
                <a:ea typeface="Noto Serif Ethiopic"/>
                <a:cs typeface="Noto Serif Ethiopic"/>
                <a:sym typeface="Noto Serif Ethiopic"/>
              </a:rPr>
            </a:br>
            <a:r>
              <a:rPr lang="en-US" sz="2600">
                <a:solidFill>
                  <a:schemeClr val="lt1"/>
                </a:solidFill>
                <a:latin typeface="Noto Serif Ethiopic"/>
                <a:ea typeface="Noto Serif Ethiopic"/>
                <a:cs typeface="Noto Serif Ethiopic"/>
                <a:sym typeface="Noto Serif Ethiopic"/>
              </a:rPr>
              <a:t>           • Phishing Dataset</a:t>
            </a:r>
            <a:endParaRPr b="1" sz="5750">
              <a:solidFill>
                <a:schemeClr val="lt1"/>
              </a:solidFill>
              <a:latin typeface="Noto Serif Ethiopic"/>
              <a:ea typeface="Noto Serif Ethiopic"/>
              <a:cs typeface="Noto Serif Ethiopic"/>
              <a:sym typeface="Noto Serif Ethiop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70" name="Google Shape;170;p19"/>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4">
              <a:alphaModFix/>
            </a:blip>
            <a:stretch>
              <a:fillRect b="0" l="0" r="0" t="0"/>
            </a:stretch>
          </a:blipFill>
          <a:ln>
            <a:noFill/>
          </a:ln>
        </p:spPr>
      </p:sp>
      <p:sp>
        <p:nvSpPr>
          <p:cNvPr id="171" name="Google Shape;171;p19"/>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5">
              <a:alphaModFix/>
            </a:blip>
            <a:stretch>
              <a:fillRect b="0" l="0" r="0" t="0"/>
            </a:stretch>
          </a:blipFill>
          <a:ln>
            <a:noFill/>
          </a:ln>
        </p:spPr>
      </p:sp>
      <p:sp>
        <p:nvSpPr>
          <p:cNvPr id="172" name="Google Shape;172;p19"/>
          <p:cNvSpPr txBox="1"/>
          <p:nvPr/>
        </p:nvSpPr>
        <p:spPr>
          <a:xfrm>
            <a:off x="1508738" y="1213044"/>
            <a:ext cx="12115800" cy="8124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5278" u="none" cap="none" strike="noStrike">
                <a:solidFill>
                  <a:srgbClr val="FFFFFF"/>
                </a:solidFill>
                <a:latin typeface="Noto Serif Ethiopic"/>
                <a:ea typeface="Noto Serif Ethiopic"/>
                <a:cs typeface="Noto Serif Ethiopic"/>
                <a:sym typeface="Noto Serif Ethiopic"/>
              </a:rPr>
              <a:t>Advantages and Disadvantages :</a:t>
            </a:r>
            <a:endParaRPr/>
          </a:p>
        </p:txBody>
      </p:sp>
      <p:sp>
        <p:nvSpPr>
          <p:cNvPr id="173" name="Google Shape;173;p19"/>
          <p:cNvSpPr/>
          <p:nvPr/>
        </p:nvSpPr>
        <p:spPr>
          <a:xfrm>
            <a:off x="15513531" y="108343"/>
            <a:ext cx="1270020" cy="125706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6">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16859751" y="117868"/>
            <a:ext cx="1247539" cy="124753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txBox="1"/>
          <p:nvPr/>
        </p:nvSpPr>
        <p:spPr>
          <a:xfrm>
            <a:off x="3767970" y="2281353"/>
            <a:ext cx="11880300" cy="6459000"/>
          </a:xfrm>
          <a:prstGeom prst="rect">
            <a:avLst/>
          </a:prstGeom>
          <a:noFill/>
          <a:ln>
            <a:noFill/>
          </a:ln>
        </p:spPr>
        <p:txBody>
          <a:bodyPr anchorCtr="0" anchor="t" bIns="0" lIns="0" spcFirstLastPara="1" rIns="0" wrap="square" tIns="0">
            <a:spAutoFit/>
          </a:bodyPr>
          <a:lstStyle/>
          <a:p>
            <a:pPr indent="-403225" lvl="0" marL="457200" rtl="0" algn="l">
              <a:lnSpc>
                <a:spcPct val="115000"/>
              </a:lnSpc>
              <a:spcBef>
                <a:spcPts val="4300"/>
              </a:spcBef>
              <a:spcAft>
                <a:spcPts val="0"/>
              </a:spcAft>
              <a:buClr>
                <a:schemeClr val="lt1"/>
              </a:buClr>
              <a:buSzPts val="2750"/>
              <a:buFont typeface="Noto Serif Ethiopic"/>
              <a:buChar char="●"/>
            </a:pPr>
            <a:r>
              <a:rPr b="1" lang="en-US" sz="2750">
                <a:solidFill>
                  <a:schemeClr val="lt1"/>
                </a:solidFill>
                <a:latin typeface="Noto Serif Ethiopic"/>
                <a:ea typeface="Noto Serif Ethiopic"/>
                <a:cs typeface="Noto Serif Ethiopic"/>
                <a:sym typeface="Noto Serif Ethiopic"/>
              </a:rPr>
              <a:t>Advantages</a:t>
            </a:r>
            <a:r>
              <a:rPr lang="en-US" sz="2750">
                <a:solidFill>
                  <a:schemeClr val="lt1"/>
                </a:solidFill>
                <a:latin typeface="Noto Serif Ethiopic"/>
                <a:ea typeface="Noto Serif Ethiopic"/>
                <a:cs typeface="Noto Serif Ethiopic"/>
                <a:sym typeface="Noto Serif Ethiopic"/>
              </a:rPr>
              <a:t>:</a:t>
            </a:r>
            <a:endParaRPr sz="2750">
              <a:solidFill>
                <a:schemeClr val="lt1"/>
              </a:solidFill>
              <a:latin typeface="Noto Serif Ethiopic"/>
              <a:ea typeface="Noto Serif Ethiopic"/>
              <a:cs typeface="Noto Serif Ethiopic"/>
              <a:sym typeface="Noto Serif Ethiopic"/>
            </a:endParaRPr>
          </a:p>
          <a:p>
            <a:pPr indent="0" lvl="0" marL="457200" rtl="0" algn="l">
              <a:lnSpc>
                <a:spcPct val="115000"/>
              </a:lnSpc>
              <a:spcBef>
                <a:spcPts val="4300"/>
              </a:spcBef>
              <a:spcAft>
                <a:spcPts val="0"/>
              </a:spcAft>
              <a:buNone/>
            </a:pPr>
            <a:r>
              <a:rPr lang="en-US" sz="2750">
                <a:solidFill>
                  <a:schemeClr val="lt1"/>
                </a:solidFill>
                <a:latin typeface="Noto Serif Ethiopic"/>
                <a:ea typeface="Noto Serif Ethiopic"/>
                <a:cs typeface="Noto Serif Ethiopic"/>
                <a:sym typeface="Noto Serif Ethiopic"/>
              </a:rPr>
              <a:t>           • Helps students identify cyber threats</a:t>
            </a:r>
            <a:br>
              <a:rPr lang="en-US" sz="2750">
                <a:solidFill>
                  <a:schemeClr val="lt1"/>
                </a:solidFill>
                <a:latin typeface="Noto Serif Ethiopic"/>
                <a:ea typeface="Noto Serif Ethiopic"/>
                <a:cs typeface="Noto Serif Ethiopic"/>
                <a:sym typeface="Noto Serif Ethiopic"/>
              </a:rPr>
            </a:br>
            <a:r>
              <a:rPr lang="en-US" sz="2750">
                <a:solidFill>
                  <a:schemeClr val="lt1"/>
                </a:solidFill>
                <a:latin typeface="Noto Serif Ethiopic"/>
                <a:ea typeface="Noto Serif Ethiopic"/>
                <a:cs typeface="Noto Serif Ethiopic"/>
                <a:sym typeface="Noto Serif Ethiopic"/>
              </a:rPr>
              <a:t>           • Provides real-time warning system</a:t>
            </a:r>
            <a:br>
              <a:rPr lang="en-US" sz="2750">
                <a:solidFill>
                  <a:schemeClr val="lt1"/>
                </a:solidFill>
                <a:latin typeface="Noto Serif Ethiopic"/>
                <a:ea typeface="Noto Serif Ethiopic"/>
                <a:cs typeface="Noto Serif Ethiopic"/>
                <a:sym typeface="Noto Serif Ethiopic"/>
              </a:rPr>
            </a:br>
            <a:r>
              <a:rPr lang="en-US" sz="2750">
                <a:solidFill>
                  <a:schemeClr val="lt1"/>
                </a:solidFill>
                <a:latin typeface="Noto Serif Ethiopic"/>
                <a:ea typeface="Noto Serif Ethiopic"/>
                <a:cs typeface="Noto Serif Ethiopic"/>
                <a:sym typeface="Noto Serif Ethiopic"/>
              </a:rPr>
              <a:t>           • Improves cyber awareness</a:t>
            </a:r>
            <a:br>
              <a:rPr lang="en-US" sz="2750">
                <a:solidFill>
                  <a:schemeClr val="lt1"/>
                </a:solidFill>
                <a:latin typeface="Noto Serif Ethiopic"/>
                <a:ea typeface="Noto Serif Ethiopic"/>
                <a:cs typeface="Noto Serif Ethiopic"/>
                <a:sym typeface="Noto Serif Ethiopic"/>
              </a:rPr>
            </a:br>
            <a:r>
              <a:rPr lang="en-US" sz="2750">
                <a:solidFill>
                  <a:schemeClr val="lt1"/>
                </a:solidFill>
                <a:latin typeface="Noto Serif Ethiopic"/>
                <a:ea typeface="Noto Serif Ethiopic"/>
                <a:cs typeface="Noto Serif Ethiopic"/>
                <a:sym typeface="Noto Serif Ethiopic"/>
              </a:rPr>
              <a:t>           • Easy to use interface</a:t>
            </a:r>
            <a:br>
              <a:rPr lang="en-US" sz="2750">
                <a:solidFill>
                  <a:schemeClr val="lt1"/>
                </a:solidFill>
                <a:latin typeface="Noto Serif Ethiopic"/>
                <a:ea typeface="Noto Serif Ethiopic"/>
                <a:cs typeface="Noto Serif Ethiopic"/>
                <a:sym typeface="Noto Serif Ethiopic"/>
              </a:rPr>
            </a:br>
            <a:r>
              <a:rPr lang="en-US" sz="2750">
                <a:solidFill>
                  <a:schemeClr val="lt1"/>
                </a:solidFill>
                <a:latin typeface="Noto Serif Ethiopic"/>
                <a:ea typeface="Noto Serif Ethiopic"/>
                <a:cs typeface="Noto Serif Ethiopic"/>
                <a:sym typeface="Noto Serif Ethiopic"/>
              </a:rPr>
              <a:t>           • Cost-effective solution</a:t>
            </a:r>
            <a:endParaRPr sz="2750">
              <a:solidFill>
                <a:schemeClr val="lt1"/>
              </a:solidFill>
              <a:latin typeface="Noto Serif Ethiopic"/>
              <a:ea typeface="Noto Serif Ethiopic"/>
              <a:cs typeface="Noto Serif Ethiopic"/>
              <a:sym typeface="Noto Serif Ethiopic"/>
            </a:endParaRPr>
          </a:p>
          <a:p>
            <a:pPr indent="-403225" lvl="0" marL="457200" rtl="0" algn="l">
              <a:lnSpc>
                <a:spcPct val="115000"/>
              </a:lnSpc>
              <a:spcBef>
                <a:spcPts val="4300"/>
              </a:spcBef>
              <a:spcAft>
                <a:spcPts val="0"/>
              </a:spcAft>
              <a:buClr>
                <a:schemeClr val="lt1"/>
              </a:buClr>
              <a:buSzPts val="2750"/>
              <a:buFont typeface="Noto Serif Ethiopic"/>
              <a:buChar char="●"/>
            </a:pPr>
            <a:r>
              <a:rPr b="1" lang="en-US" sz="2750">
                <a:solidFill>
                  <a:schemeClr val="lt1"/>
                </a:solidFill>
                <a:latin typeface="Noto Serif Ethiopic"/>
                <a:ea typeface="Noto Serif Ethiopic"/>
                <a:cs typeface="Noto Serif Ethiopic"/>
                <a:sym typeface="Noto Serif Ethiopic"/>
              </a:rPr>
              <a:t>Disadvantages</a:t>
            </a:r>
            <a:r>
              <a:rPr lang="en-US" sz="2750">
                <a:solidFill>
                  <a:schemeClr val="lt1"/>
                </a:solidFill>
                <a:latin typeface="Noto Serif Ethiopic"/>
                <a:ea typeface="Noto Serif Ethiopic"/>
                <a:cs typeface="Noto Serif Ethiopic"/>
                <a:sym typeface="Noto Serif Ethiopic"/>
              </a:rPr>
              <a:t>:</a:t>
            </a:r>
            <a:endParaRPr sz="2750">
              <a:solidFill>
                <a:schemeClr val="lt1"/>
              </a:solidFill>
              <a:latin typeface="Noto Serif Ethiopic"/>
              <a:ea typeface="Noto Serif Ethiopic"/>
              <a:cs typeface="Noto Serif Ethiopic"/>
              <a:sym typeface="Noto Serif Ethiopic"/>
            </a:endParaRPr>
          </a:p>
          <a:p>
            <a:pPr indent="0" lvl="0" marL="457200" rtl="0" algn="l">
              <a:lnSpc>
                <a:spcPct val="115000"/>
              </a:lnSpc>
              <a:spcBef>
                <a:spcPts val="4300"/>
              </a:spcBef>
              <a:spcAft>
                <a:spcPts val="4300"/>
              </a:spcAft>
              <a:buNone/>
            </a:pPr>
            <a:r>
              <a:rPr lang="en-US" sz="2750">
                <a:solidFill>
                  <a:schemeClr val="lt1"/>
                </a:solidFill>
                <a:latin typeface="Noto Serif Ethiopic"/>
                <a:ea typeface="Noto Serif Ethiopic"/>
                <a:cs typeface="Noto Serif Ethiopic"/>
                <a:sym typeface="Noto Serif Ethiopic"/>
              </a:rPr>
              <a:t>           • Accuracy depends on quality of training data</a:t>
            </a:r>
            <a:br>
              <a:rPr lang="en-US" sz="2750">
                <a:solidFill>
                  <a:schemeClr val="lt1"/>
                </a:solidFill>
                <a:latin typeface="Noto Serif Ethiopic"/>
                <a:ea typeface="Noto Serif Ethiopic"/>
                <a:cs typeface="Noto Serif Ethiopic"/>
                <a:sym typeface="Noto Serif Ethiopic"/>
              </a:rPr>
            </a:br>
            <a:r>
              <a:rPr lang="en-US" sz="2750">
                <a:solidFill>
                  <a:schemeClr val="lt1"/>
                </a:solidFill>
                <a:latin typeface="Noto Serif Ethiopic"/>
                <a:ea typeface="Noto Serif Ethiopic"/>
                <a:cs typeface="Noto Serif Ethiopic"/>
                <a:sym typeface="Noto Serif Ethiopic"/>
              </a:rPr>
              <a:t>           • Cannot detect completely new unknown threats</a:t>
            </a:r>
            <a:br>
              <a:rPr lang="en-US" sz="2750">
                <a:solidFill>
                  <a:schemeClr val="lt1"/>
                </a:solidFill>
                <a:latin typeface="Noto Serif Ethiopic"/>
                <a:ea typeface="Noto Serif Ethiopic"/>
                <a:cs typeface="Noto Serif Ethiopic"/>
                <a:sym typeface="Noto Serif Ethiopic"/>
              </a:rPr>
            </a:br>
            <a:r>
              <a:rPr lang="en-US" sz="2750">
                <a:solidFill>
                  <a:schemeClr val="lt1"/>
                </a:solidFill>
                <a:latin typeface="Noto Serif Ethiopic"/>
                <a:ea typeface="Noto Serif Ethiopic"/>
                <a:cs typeface="Noto Serif Ethiopic"/>
                <a:sym typeface="Noto Serif Ethiopic"/>
              </a:rPr>
              <a:t>           • Requires internet connection</a:t>
            </a:r>
            <a:endParaRPr sz="2750">
              <a:solidFill>
                <a:schemeClr val="lt1"/>
              </a:solidFill>
              <a:latin typeface="Noto Serif Ethiopic"/>
              <a:ea typeface="Noto Serif Ethiopic"/>
              <a:cs typeface="Noto Serif Ethiopic"/>
              <a:sym typeface="Noto Serif Ethiop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65" l="0" r="0" t="-18275"/>
            </a:stretch>
          </a:blipFill>
          <a:ln>
            <a:noFill/>
          </a:ln>
        </p:spPr>
      </p:sp>
      <p:sp>
        <p:nvSpPr>
          <p:cNvPr id="181" name="Google Shape;181;p20"/>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4">
              <a:alphaModFix/>
            </a:blip>
            <a:stretch>
              <a:fillRect b="0" l="0" r="0" t="0"/>
            </a:stretch>
          </a:blipFill>
          <a:ln>
            <a:noFill/>
          </a:ln>
        </p:spPr>
      </p:sp>
      <p:sp>
        <p:nvSpPr>
          <p:cNvPr id="182" name="Google Shape;182;p20"/>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5">
              <a:alphaModFix/>
            </a:blip>
            <a:stretch>
              <a:fillRect b="0" l="0" r="0" t="0"/>
            </a:stretch>
          </a:blipFill>
          <a:ln>
            <a:noFill/>
          </a:ln>
        </p:spPr>
      </p:sp>
      <p:sp>
        <p:nvSpPr>
          <p:cNvPr id="183" name="Google Shape;183;p20"/>
          <p:cNvSpPr txBox="1"/>
          <p:nvPr/>
        </p:nvSpPr>
        <p:spPr>
          <a:xfrm>
            <a:off x="1989898" y="1365398"/>
            <a:ext cx="4889700" cy="8124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5278" u="none" cap="none" strike="noStrike">
                <a:solidFill>
                  <a:srgbClr val="FFFFFF"/>
                </a:solidFill>
                <a:latin typeface="Noto Serif Ethiopic"/>
                <a:ea typeface="Noto Serif Ethiopic"/>
                <a:cs typeface="Noto Serif Ethiopic"/>
                <a:sym typeface="Noto Serif Ethiopic"/>
              </a:rPr>
              <a:t>Conclusion :</a:t>
            </a:r>
            <a:endParaRPr/>
          </a:p>
        </p:txBody>
      </p:sp>
      <p:sp>
        <p:nvSpPr>
          <p:cNvPr id="184" name="Google Shape;184;p20"/>
          <p:cNvSpPr/>
          <p:nvPr/>
        </p:nvSpPr>
        <p:spPr>
          <a:xfrm>
            <a:off x="15513531" y="108343"/>
            <a:ext cx="1270020" cy="125706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6">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16859751" y="117868"/>
            <a:ext cx="1247539" cy="1247539"/>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txBox="1"/>
          <p:nvPr/>
        </p:nvSpPr>
        <p:spPr>
          <a:xfrm>
            <a:off x="3795970" y="2481628"/>
            <a:ext cx="12352500" cy="6214200"/>
          </a:xfrm>
          <a:prstGeom prst="rect">
            <a:avLst/>
          </a:prstGeom>
          <a:noFill/>
          <a:ln>
            <a:noFill/>
          </a:ln>
        </p:spPr>
        <p:txBody>
          <a:bodyPr anchorCtr="0" anchor="t" bIns="0" lIns="0" spcFirstLastPara="1" rIns="0" wrap="square" tIns="0">
            <a:spAutoFit/>
          </a:bodyPr>
          <a:lstStyle/>
          <a:p>
            <a:pPr indent="-396875" lvl="0" marL="457200" rtl="0" algn="l">
              <a:lnSpc>
                <a:spcPct val="115000"/>
              </a:lnSpc>
              <a:spcBef>
                <a:spcPts val="1200"/>
              </a:spcBef>
              <a:spcAft>
                <a:spcPts val="0"/>
              </a:spcAft>
              <a:buClr>
                <a:srgbClr val="FFFFFF"/>
              </a:buClr>
              <a:buSzPts val="2650"/>
              <a:buFont typeface="Noto Serif Ethiopic"/>
              <a:buChar char="●"/>
            </a:pPr>
            <a:r>
              <a:rPr b="1" lang="en-US" sz="2650">
                <a:solidFill>
                  <a:srgbClr val="FFFFFF"/>
                </a:solidFill>
                <a:latin typeface="Noto Serif Ethiopic"/>
                <a:ea typeface="Noto Serif Ethiopic"/>
                <a:cs typeface="Noto Serif Ethiopic"/>
                <a:sym typeface="Noto Serif Ethiopic"/>
              </a:rPr>
              <a:t>Smart Digital Guardian is an AI-based cyber risk awareness system designed to protect students from cyber threats.</a:t>
            </a:r>
            <a:endParaRPr b="1" sz="2650">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650">
              <a:solidFill>
                <a:srgbClr val="FFFFFF"/>
              </a:solidFill>
              <a:latin typeface="Noto Serif Ethiopic"/>
              <a:ea typeface="Noto Serif Ethiopic"/>
              <a:cs typeface="Noto Serif Ethiopic"/>
              <a:sym typeface="Noto Serif Ethiopic"/>
            </a:endParaRPr>
          </a:p>
          <a:p>
            <a:pPr indent="-396875" lvl="0" marL="457200" rtl="0" algn="l">
              <a:lnSpc>
                <a:spcPct val="115000"/>
              </a:lnSpc>
              <a:spcBef>
                <a:spcPts val="1200"/>
              </a:spcBef>
              <a:spcAft>
                <a:spcPts val="0"/>
              </a:spcAft>
              <a:buClr>
                <a:srgbClr val="FFFFFF"/>
              </a:buClr>
              <a:buSzPts val="2650"/>
              <a:buFont typeface="Noto Serif Ethiopic"/>
              <a:buChar char="●"/>
            </a:pPr>
            <a:r>
              <a:rPr b="1" lang="en-US" sz="2650">
                <a:solidFill>
                  <a:srgbClr val="FFFFFF"/>
                </a:solidFill>
                <a:latin typeface="Noto Serif Ethiopic"/>
                <a:ea typeface="Noto Serif Ethiopic"/>
                <a:cs typeface="Noto Serif Ethiopic"/>
                <a:sym typeface="Noto Serif Ethiopic"/>
              </a:rPr>
              <a:t>The system helps students identify unsafe links and suspicious messages and provides real-time warnings.</a:t>
            </a:r>
            <a:endParaRPr b="1" sz="2650">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650">
              <a:solidFill>
                <a:srgbClr val="FFFFFF"/>
              </a:solidFill>
              <a:latin typeface="Noto Serif Ethiopic"/>
              <a:ea typeface="Noto Serif Ethiopic"/>
              <a:cs typeface="Noto Serif Ethiopic"/>
              <a:sym typeface="Noto Serif Ethiopic"/>
            </a:endParaRPr>
          </a:p>
          <a:p>
            <a:pPr indent="-396875" lvl="0" marL="457200" rtl="0" algn="l">
              <a:lnSpc>
                <a:spcPct val="115000"/>
              </a:lnSpc>
              <a:spcBef>
                <a:spcPts val="1200"/>
              </a:spcBef>
              <a:spcAft>
                <a:spcPts val="0"/>
              </a:spcAft>
              <a:buClr>
                <a:srgbClr val="FFFFFF"/>
              </a:buClr>
              <a:buSzPts val="2650"/>
              <a:buFont typeface="Noto Serif Ethiopic"/>
              <a:buChar char="●"/>
            </a:pPr>
            <a:r>
              <a:rPr b="1" lang="en-US" sz="2650">
                <a:solidFill>
                  <a:srgbClr val="FFFFFF"/>
                </a:solidFill>
                <a:latin typeface="Noto Serif Ethiopic"/>
                <a:ea typeface="Noto Serif Ethiopic"/>
                <a:cs typeface="Noto Serif Ethiopic"/>
                <a:sym typeface="Noto Serif Ethiopic"/>
              </a:rPr>
              <a:t>This project focuses on prevention, helping students avoid cyber attacks before damage occurs.</a:t>
            </a:r>
            <a:endParaRPr b="1" sz="2650">
              <a:solidFill>
                <a:srgbClr val="FFFFFF"/>
              </a:solidFill>
              <a:latin typeface="Noto Serif Ethiopic"/>
              <a:ea typeface="Noto Serif Ethiopic"/>
              <a:cs typeface="Noto Serif Ethiopic"/>
              <a:sym typeface="Noto Serif Ethiopic"/>
            </a:endParaRPr>
          </a:p>
          <a:p>
            <a:pPr indent="0" lvl="0" marL="457200" rtl="0" algn="l">
              <a:lnSpc>
                <a:spcPct val="115000"/>
              </a:lnSpc>
              <a:spcBef>
                <a:spcPts val="1200"/>
              </a:spcBef>
              <a:spcAft>
                <a:spcPts val="0"/>
              </a:spcAft>
              <a:buNone/>
            </a:pPr>
            <a:r>
              <a:t/>
            </a:r>
            <a:endParaRPr b="1" sz="2650">
              <a:solidFill>
                <a:srgbClr val="FFFFFF"/>
              </a:solidFill>
              <a:latin typeface="Noto Serif Ethiopic"/>
              <a:ea typeface="Noto Serif Ethiopic"/>
              <a:cs typeface="Noto Serif Ethiopic"/>
              <a:sym typeface="Noto Serif Ethiopic"/>
            </a:endParaRPr>
          </a:p>
          <a:p>
            <a:pPr indent="-396875" lvl="0" marL="457200" rtl="0" algn="l">
              <a:lnSpc>
                <a:spcPct val="115000"/>
              </a:lnSpc>
              <a:spcBef>
                <a:spcPts val="1200"/>
              </a:spcBef>
              <a:spcAft>
                <a:spcPts val="0"/>
              </a:spcAft>
              <a:buClr>
                <a:srgbClr val="FFFFFF"/>
              </a:buClr>
              <a:buSzPts val="2650"/>
              <a:buFont typeface="Noto Serif Ethiopic"/>
              <a:buChar char="●"/>
            </a:pPr>
            <a:r>
              <a:rPr b="1" lang="en-US" sz="2650">
                <a:solidFill>
                  <a:srgbClr val="FFFFFF"/>
                </a:solidFill>
                <a:latin typeface="Noto Serif Ethiopic"/>
                <a:ea typeface="Noto Serif Ethiopic"/>
                <a:cs typeface="Noto Serif Ethiopic"/>
                <a:sym typeface="Noto Serif Ethiopic"/>
              </a:rPr>
              <a:t>In the future, the system can be expanded into browser extensions and mobile applications to provide wider protection.</a:t>
            </a:r>
            <a:endParaRPr b="1" sz="2650">
              <a:solidFill>
                <a:srgbClr val="FFFFFF"/>
              </a:solidFill>
              <a:latin typeface="Noto Serif Ethiopic"/>
              <a:ea typeface="Noto Serif Ethiopic"/>
              <a:cs typeface="Noto Serif Ethiopic"/>
              <a:sym typeface="Noto Serif Ethiopic"/>
            </a:endParaRPr>
          </a:p>
          <a:p>
            <a:pPr indent="-282575" lvl="0" marL="457200" marR="0" rtl="0" algn="l">
              <a:lnSpc>
                <a:spcPct val="140023"/>
              </a:lnSpc>
              <a:spcBef>
                <a:spcPts val="0"/>
              </a:spcBef>
              <a:spcAft>
                <a:spcPts val="0"/>
              </a:spcAft>
              <a:buClr>
                <a:srgbClr val="FFFFFF"/>
              </a:buClr>
              <a:buSzPts val="850"/>
              <a:buFont typeface="Noto Serif Ethiopic"/>
              <a:buChar char="●"/>
            </a:pPr>
            <a:r>
              <a:t/>
            </a:r>
            <a:endParaRPr b="1" sz="850">
              <a:solidFill>
                <a:srgbClr val="FFFFFF"/>
              </a:solidFill>
              <a:latin typeface="Noto Serif Ethiopic"/>
              <a:ea typeface="Noto Serif Ethiopic"/>
              <a:cs typeface="Noto Serif Ethiopic"/>
              <a:sym typeface="Noto Serif Ethiop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522" r="-521" t="0"/>
            </a:stretch>
          </a:blipFill>
          <a:ln>
            <a:noFill/>
          </a:ln>
        </p:spPr>
      </p:sp>
      <p:grpSp>
        <p:nvGrpSpPr>
          <p:cNvPr id="192" name="Google Shape;192;p21"/>
          <p:cNvGrpSpPr/>
          <p:nvPr/>
        </p:nvGrpSpPr>
        <p:grpSpPr>
          <a:xfrm rot="-540402">
            <a:off x="-592396" y="3885060"/>
            <a:ext cx="19413993" cy="4386670"/>
            <a:chOff x="0" y="0"/>
            <a:chExt cx="25885325" cy="5848892"/>
          </a:xfrm>
        </p:grpSpPr>
        <p:sp>
          <p:nvSpPr>
            <p:cNvPr id="193" name="Google Shape;193;p21"/>
            <p:cNvSpPr/>
            <p:nvPr/>
          </p:nvSpPr>
          <p:spPr>
            <a:xfrm rot="-737086">
              <a:off x="13954551" y="1240396"/>
              <a:ext cx="5990103" cy="3557887"/>
            </a:xfrm>
            <a:custGeom>
              <a:rect b="b" l="l" r="r" t="t"/>
              <a:pathLst>
                <a:path extrusionOk="0" h="3557887" w="5990103">
                  <a:moveTo>
                    <a:pt x="0" y="0"/>
                  </a:moveTo>
                  <a:lnTo>
                    <a:pt x="5990102" y="0"/>
                  </a:lnTo>
                  <a:lnTo>
                    <a:pt x="5990102" y="3557887"/>
                  </a:lnTo>
                  <a:lnTo>
                    <a:pt x="0" y="3557887"/>
                  </a:lnTo>
                  <a:lnTo>
                    <a:pt x="0" y="0"/>
                  </a:lnTo>
                  <a:close/>
                </a:path>
              </a:pathLst>
            </a:custGeom>
            <a:blipFill rotWithShape="1">
              <a:blip r:embed="rId4">
                <a:alphaModFix/>
              </a:blip>
              <a:stretch>
                <a:fillRect b="-6415" l="0" r="0" t="-5822"/>
              </a:stretch>
            </a:blipFill>
            <a:ln>
              <a:noFill/>
            </a:ln>
          </p:spPr>
        </p:sp>
        <p:sp>
          <p:nvSpPr>
            <p:cNvPr id="194" name="Google Shape;194;p21"/>
            <p:cNvSpPr/>
            <p:nvPr/>
          </p:nvSpPr>
          <p:spPr>
            <a:xfrm rot="-737086">
              <a:off x="7266328" y="1009796"/>
              <a:ext cx="6559020" cy="3895801"/>
            </a:xfrm>
            <a:custGeom>
              <a:rect b="b" l="l" r="r" t="t"/>
              <a:pathLst>
                <a:path extrusionOk="0" h="3895801" w="6559020">
                  <a:moveTo>
                    <a:pt x="0" y="0"/>
                  </a:moveTo>
                  <a:lnTo>
                    <a:pt x="6559020" y="0"/>
                  </a:lnTo>
                  <a:lnTo>
                    <a:pt x="6559020" y="3895801"/>
                  </a:lnTo>
                  <a:lnTo>
                    <a:pt x="0" y="3895801"/>
                  </a:lnTo>
                  <a:lnTo>
                    <a:pt x="0" y="0"/>
                  </a:lnTo>
                  <a:close/>
                </a:path>
              </a:pathLst>
            </a:custGeom>
            <a:blipFill rotWithShape="1">
              <a:blip r:embed="rId4">
                <a:alphaModFix/>
              </a:blip>
              <a:stretch>
                <a:fillRect b="-6415" l="0" r="0" t="-5822"/>
              </a:stretch>
            </a:blipFill>
            <a:ln>
              <a:noFill/>
            </a:ln>
          </p:spPr>
        </p:sp>
        <p:sp>
          <p:nvSpPr>
            <p:cNvPr id="195" name="Google Shape;195;p21"/>
            <p:cNvSpPr/>
            <p:nvPr/>
          </p:nvSpPr>
          <p:spPr>
            <a:xfrm rot="-737086">
              <a:off x="381552" y="734384"/>
              <a:ext cx="7374434" cy="4380125"/>
            </a:xfrm>
            <a:custGeom>
              <a:rect b="b" l="l" r="r" t="t"/>
              <a:pathLst>
                <a:path extrusionOk="0" h="4380125" w="7374434">
                  <a:moveTo>
                    <a:pt x="0" y="0"/>
                  </a:moveTo>
                  <a:lnTo>
                    <a:pt x="7374434" y="0"/>
                  </a:lnTo>
                  <a:lnTo>
                    <a:pt x="7374434" y="4380125"/>
                  </a:lnTo>
                  <a:lnTo>
                    <a:pt x="0" y="4380125"/>
                  </a:lnTo>
                  <a:lnTo>
                    <a:pt x="0" y="0"/>
                  </a:lnTo>
                  <a:close/>
                </a:path>
              </a:pathLst>
            </a:custGeom>
            <a:blipFill rotWithShape="1">
              <a:blip r:embed="rId4">
                <a:alphaModFix/>
              </a:blip>
              <a:stretch>
                <a:fillRect b="-6415" l="0" r="0" t="-5822"/>
              </a:stretch>
            </a:blipFill>
            <a:ln>
              <a:noFill/>
            </a:ln>
          </p:spPr>
        </p:sp>
        <p:sp>
          <p:nvSpPr>
            <p:cNvPr id="196" name="Google Shape;196;p21"/>
            <p:cNvSpPr/>
            <p:nvPr/>
          </p:nvSpPr>
          <p:spPr>
            <a:xfrm rot="-737086">
              <a:off x="19736504" y="1345590"/>
              <a:ext cx="5846333" cy="3472493"/>
            </a:xfrm>
            <a:custGeom>
              <a:rect b="b" l="l" r="r" t="t"/>
              <a:pathLst>
                <a:path extrusionOk="0" h="3472493" w="5846333">
                  <a:moveTo>
                    <a:pt x="0" y="0"/>
                  </a:moveTo>
                  <a:lnTo>
                    <a:pt x="5846333" y="0"/>
                  </a:lnTo>
                  <a:lnTo>
                    <a:pt x="5846333" y="3472494"/>
                  </a:lnTo>
                  <a:lnTo>
                    <a:pt x="0" y="3472494"/>
                  </a:lnTo>
                  <a:lnTo>
                    <a:pt x="0" y="0"/>
                  </a:lnTo>
                  <a:close/>
                </a:path>
              </a:pathLst>
            </a:custGeom>
            <a:blipFill rotWithShape="1">
              <a:blip r:embed="rId4">
                <a:alphaModFix/>
              </a:blip>
              <a:stretch>
                <a:fillRect b="-6415" l="0" r="0" t="-5822"/>
              </a:stretch>
            </a:blipFill>
            <a:ln>
              <a:noFill/>
            </a:ln>
          </p:spPr>
        </p:sp>
      </p:grpSp>
      <p:grpSp>
        <p:nvGrpSpPr>
          <p:cNvPr id="197" name="Google Shape;197;p21"/>
          <p:cNvGrpSpPr/>
          <p:nvPr/>
        </p:nvGrpSpPr>
        <p:grpSpPr>
          <a:xfrm rot="207792">
            <a:off x="-541924" y="3238579"/>
            <a:ext cx="18986574" cy="4178615"/>
            <a:chOff x="0" y="0"/>
            <a:chExt cx="25315431" cy="5571486"/>
          </a:xfrm>
        </p:grpSpPr>
        <p:sp>
          <p:nvSpPr>
            <p:cNvPr id="198" name="Google Shape;198;p21"/>
            <p:cNvSpPr/>
            <p:nvPr/>
          </p:nvSpPr>
          <p:spPr>
            <a:xfrm rot="-737086">
              <a:off x="13649000" y="1199415"/>
              <a:ext cx="5861737" cy="3355227"/>
            </a:xfrm>
            <a:custGeom>
              <a:rect b="b" l="l" r="r" t="t"/>
              <a:pathLst>
                <a:path extrusionOk="0" h="3355227" w="5861737">
                  <a:moveTo>
                    <a:pt x="0" y="0"/>
                  </a:moveTo>
                  <a:lnTo>
                    <a:pt x="5861737" y="0"/>
                  </a:lnTo>
                  <a:lnTo>
                    <a:pt x="5861737" y="3355226"/>
                  </a:lnTo>
                  <a:lnTo>
                    <a:pt x="0" y="3355226"/>
                  </a:lnTo>
                  <a:lnTo>
                    <a:pt x="0" y="0"/>
                  </a:lnTo>
                  <a:close/>
                </a:path>
              </a:pathLst>
            </a:custGeom>
            <a:blipFill rotWithShape="1">
              <a:blip r:embed="rId4">
                <a:alphaModFix/>
              </a:blip>
              <a:stretch>
                <a:fillRect b="-8539" l="0" r="0" t="-7926"/>
              </a:stretch>
            </a:blipFill>
            <a:ln>
              <a:noFill/>
            </a:ln>
          </p:spPr>
        </p:sp>
        <p:sp>
          <p:nvSpPr>
            <p:cNvPr id="199" name="Google Shape;199;p21"/>
            <p:cNvSpPr/>
            <p:nvPr/>
          </p:nvSpPr>
          <p:spPr>
            <a:xfrm rot="-737086">
              <a:off x="7099108" y="980782"/>
              <a:ext cx="6418462" cy="3673894"/>
            </a:xfrm>
            <a:custGeom>
              <a:rect b="b" l="l" r="r" t="t"/>
              <a:pathLst>
                <a:path extrusionOk="0" h="3673894" w="6418462">
                  <a:moveTo>
                    <a:pt x="0" y="0"/>
                  </a:moveTo>
                  <a:lnTo>
                    <a:pt x="6418462" y="0"/>
                  </a:lnTo>
                  <a:lnTo>
                    <a:pt x="6418462" y="3673893"/>
                  </a:lnTo>
                  <a:lnTo>
                    <a:pt x="0" y="3673893"/>
                  </a:lnTo>
                  <a:lnTo>
                    <a:pt x="0" y="0"/>
                  </a:lnTo>
                  <a:close/>
                </a:path>
              </a:pathLst>
            </a:custGeom>
            <a:blipFill rotWithShape="1">
              <a:blip r:embed="rId4">
                <a:alphaModFix/>
              </a:blip>
              <a:stretch>
                <a:fillRect b="-8539" l="0" r="0" t="-7926"/>
              </a:stretch>
            </a:blipFill>
            <a:ln>
              <a:noFill/>
            </a:ln>
          </p:spPr>
        </p:sp>
        <p:sp>
          <p:nvSpPr>
            <p:cNvPr id="200" name="Google Shape;200;p21"/>
            <p:cNvSpPr/>
            <p:nvPr/>
          </p:nvSpPr>
          <p:spPr>
            <a:xfrm rot="-737086">
              <a:off x="356818" y="720428"/>
              <a:ext cx="7216402" cy="4130630"/>
            </a:xfrm>
            <a:custGeom>
              <a:rect b="b" l="l" r="r" t="t"/>
              <a:pathLst>
                <a:path extrusionOk="0" h="4130630" w="7216402">
                  <a:moveTo>
                    <a:pt x="0" y="0"/>
                  </a:moveTo>
                  <a:lnTo>
                    <a:pt x="7216403" y="0"/>
                  </a:lnTo>
                  <a:lnTo>
                    <a:pt x="7216403" y="4130630"/>
                  </a:lnTo>
                  <a:lnTo>
                    <a:pt x="0" y="4130630"/>
                  </a:lnTo>
                  <a:lnTo>
                    <a:pt x="0" y="0"/>
                  </a:lnTo>
                  <a:close/>
                </a:path>
              </a:pathLst>
            </a:custGeom>
            <a:blipFill rotWithShape="1">
              <a:blip r:embed="rId4">
                <a:alphaModFix/>
              </a:blip>
              <a:stretch>
                <a:fillRect b="-8539" l="0" r="0" t="-7926"/>
              </a:stretch>
            </a:blipFill>
            <a:ln>
              <a:noFill/>
            </a:ln>
          </p:spPr>
        </p:sp>
        <p:sp>
          <p:nvSpPr>
            <p:cNvPr id="201" name="Google Shape;201;p21"/>
            <p:cNvSpPr/>
            <p:nvPr/>
          </p:nvSpPr>
          <p:spPr>
            <a:xfrm rot="-737086">
              <a:off x="19311503" y="1299801"/>
              <a:ext cx="5721048" cy="3274698"/>
            </a:xfrm>
            <a:custGeom>
              <a:rect b="b" l="l" r="r" t="t"/>
              <a:pathLst>
                <a:path extrusionOk="0" h="3274698" w="5721048">
                  <a:moveTo>
                    <a:pt x="0" y="0"/>
                  </a:moveTo>
                  <a:lnTo>
                    <a:pt x="5721048" y="0"/>
                  </a:lnTo>
                  <a:lnTo>
                    <a:pt x="5721048" y="3274697"/>
                  </a:lnTo>
                  <a:lnTo>
                    <a:pt x="0" y="3274697"/>
                  </a:lnTo>
                  <a:lnTo>
                    <a:pt x="0" y="0"/>
                  </a:lnTo>
                  <a:close/>
                </a:path>
              </a:pathLst>
            </a:custGeom>
            <a:blipFill rotWithShape="1">
              <a:blip r:embed="rId4">
                <a:alphaModFix/>
              </a:blip>
              <a:stretch>
                <a:fillRect b="-8539" l="0" r="0" t="-7926"/>
              </a:stretch>
            </a:blipFill>
            <a:ln>
              <a:noFill/>
            </a:ln>
          </p:spPr>
        </p:sp>
      </p:grpSp>
      <p:sp>
        <p:nvSpPr>
          <p:cNvPr id="202" name="Google Shape;202;p21"/>
          <p:cNvSpPr/>
          <p:nvPr/>
        </p:nvSpPr>
        <p:spPr>
          <a:xfrm>
            <a:off x="2730042" y="2057550"/>
            <a:ext cx="12900306" cy="6783064"/>
          </a:xfrm>
          <a:custGeom>
            <a:rect b="b" l="l" r="r" t="t"/>
            <a:pathLst>
              <a:path extrusionOk="0" h="6783064" w="12900306">
                <a:moveTo>
                  <a:pt x="0" y="0"/>
                </a:moveTo>
                <a:lnTo>
                  <a:pt x="12900306" y="0"/>
                </a:lnTo>
                <a:lnTo>
                  <a:pt x="12900306" y="6783065"/>
                </a:lnTo>
                <a:lnTo>
                  <a:pt x="0" y="6783065"/>
                </a:lnTo>
                <a:lnTo>
                  <a:pt x="0" y="0"/>
                </a:lnTo>
                <a:close/>
              </a:path>
            </a:pathLst>
          </a:custGeom>
          <a:blipFill rotWithShape="1">
            <a:blip r:embed="rId5">
              <a:alphaModFix/>
            </a:blip>
            <a:stretch>
              <a:fillRect b="0" l="0" r="0" t="0"/>
            </a:stretch>
          </a:blipFill>
          <a:ln>
            <a:noFill/>
          </a:ln>
        </p:spPr>
      </p:sp>
      <p:sp>
        <p:nvSpPr>
          <p:cNvPr id="203" name="Google Shape;203;p21"/>
          <p:cNvSpPr/>
          <p:nvPr/>
        </p:nvSpPr>
        <p:spPr>
          <a:xfrm>
            <a:off x="179921" y="9320103"/>
            <a:ext cx="2830590" cy="755125"/>
          </a:xfrm>
          <a:custGeom>
            <a:rect b="b" l="l" r="r" t="t"/>
            <a:pathLst>
              <a:path extrusionOk="0" h="755125" w="2830590">
                <a:moveTo>
                  <a:pt x="0" y="0"/>
                </a:moveTo>
                <a:lnTo>
                  <a:pt x="2830589" y="0"/>
                </a:lnTo>
                <a:lnTo>
                  <a:pt x="2830589" y="755126"/>
                </a:lnTo>
                <a:lnTo>
                  <a:pt x="0" y="755126"/>
                </a:lnTo>
                <a:lnTo>
                  <a:pt x="0" y="0"/>
                </a:lnTo>
                <a:close/>
              </a:path>
            </a:pathLst>
          </a:custGeom>
          <a:blipFill rotWithShape="1">
            <a:blip r:embed="rId6">
              <a:alphaModFix/>
            </a:blip>
            <a:stretch>
              <a:fillRect b="0" l="0" r="0" t="0"/>
            </a:stretch>
          </a:blipFill>
          <a:ln>
            <a:noFill/>
          </a:ln>
        </p:spPr>
      </p:sp>
      <p:sp>
        <p:nvSpPr>
          <p:cNvPr id="204" name="Google Shape;204;p21"/>
          <p:cNvSpPr/>
          <p:nvPr/>
        </p:nvSpPr>
        <p:spPr>
          <a:xfrm>
            <a:off x="16932048" y="8914947"/>
            <a:ext cx="1193450" cy="1193450"/>
          </a:xfrm>
          <a:custGeom>
            <a:rect b="b" l="l" r="r" t="t"/>
            <a:pathLst>
              <a:path extrusionOk="0" h="1193450" w="1193450">
                <a:moveTo>
                  <a:pt x="0" y="0"/>
                </a:moveTo>
                <a:lnTo>
                  <a:pt x="1193450" y="0"/>
                </a:lnTo>
                <a:lnTo>
                  <a:pt x="1193450" y="1193450"/>
                </a:lnTo>
                <a:lnTo>
                  <a:pt x="0" y="1193450"/>
                </a:lnTo>
                <a:lnTo>
                  <a:pt x="0" y="0"/>
                </a:lnTo>
                <a:close/>
              </a:path>
            </a:pathLst>
          </a:custGeom>
          <a:blipFill rotWithShape="1">
            <a:blip r:embed="rId7">
              <a:alphaModFix/>
            </a:blip>
            <a:stretch>
              <a:fillRect b="0" l="0" r="0" t="0"/>
            </a:stretch>
          </a:blipFill>
          <a:ln>
            <a:noFill/>
          </a:ln>
        </p:spPr>
      </p:sp>
      <p:sp>
        <p:nvSpPr>
          <p:cNvPr id="205" name="Google Shape;205;p21"/>
          <p:cNvSpPr/>
          <p:nvPr/>
        </p:nvSpPr>
        <p:spPr>
          <a:xfrm>
            <a:off x="506506" y="401183"/>
            <a:ext cx="1395712" cy="1381474"/>
          </a:xfrm>
          <a:custGeom>
            <a:rect b="b" l="l" r="r" t="t"/>
            <a:pathLst>
              <a:path extrusionOk="0" h="958766" w="968648">
                <a:moveTo>
                  <a:pt x="484324" y="0"/>
                </a:moveTo>
                <a:cubicBezTo>
                  <a:pt x="216839" y="0"/>
                  <a:pt x="0" y="214627"/>
                  <a:pt x="0" y="479383"/>
                </a:cubicBezTo>
                <a:cubicBezTo>
                  <a:pt x="0" y="744139"/>
                  <a:pt x="216839" y="958766"/>
                  <a:pt x="484324" y="958766"/>
                </a:cubicBezTo>
                <a:cubicBezTo>
                  <a:pt x="751808" y="958766"/>
                  <a:pt x="968648" y="744139"/>
                  <a:pt x="968648" y="479383"/>
                </a:cubicBezTo>
                <a:cubicBezTo>
                  <a:pt x="968648" y="214627"/>
                  <a:pt x="751808" y="0"/>
                  <a:pt x="484324" y="0"/>
                </a:cubicBezTo>
                <a:close/>
              </a:path>
            </a:pathLst>
          </a:custGeom>
          <a:blipFill rotWithShape="1">
            <a:blip r:embed="rId8">
              <a:alphaModFix/>
            </a:blip>
            <a:stretch>
              <a:fillRect b="-5579" l="-5327" r="-481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
          <p:cNvSpPr/>
          <p:nvPr/>
        </p:nvSpPr>
        <p:spPr>
          <a:xfrm>
            <a:off x="16539687" y="401183"/>
            <a:ext cx="1381474" cy="1381474"/>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9">
              <a:alphaModFix/>
            </a:blip>
            <a:stretch>
              <a:fillRect b="-26503" l="-95796" r="-94875" t="-26103"/>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